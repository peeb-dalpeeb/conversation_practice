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80d28a3b1842cf" /><Relationship Type="http://schemas.openxmlformats.org/officeDocument/2006/relationships/extended-properties" Target="/docProps/app.xml" Id="R1e77ef85391a401d" /><Relationship Type="http://schemas.openxmlformats.org/officeDocument/2006/relationships/officeDocument" Target="/ppt/presentation.xml" Id="R8d11612bf51d4704" /></Relationships>
</file>

<file path=ppt/presentation.xml><?xml version="1.0" encoding="utf-8"?>
<p:presentation xmlns:p="http://schemas.openxmlformats.org/presentationml/2006/main">
  <p:sldMasterIdLst>
    <p:sldMasterId xmlns:r="http://schemas.openxmlformats.org/officeDocument/2006/relationships" id="2147483648" r:id="R73e0248c33c44148"/>
  </p:sldMasterIdLst>
  <p:notesMasterIdLst>
    <p:notesMasterId xmlns:r="http://schemas.openxmlformats.org/officeDocument/2006/relationships" r:id="Rfbe77deb5f064cd0"/>
  </p:notesMasterIdLst>
  <p:sldIdLst>
    <p:sldId xmlns:r="http://schemas.openxmlformats.org/officeDocument/2006/relationships" id="256" r:id="Rbb48947bb2654101"/>
    <p:sldId xmlns:r="http://schemas.openxmlformats.org/officeDocument/2006/relationships" id="257" r:id="Rcd3069950eab4069"/>
    <p:sldId xmlns:r="http://schemas.openxmlformats.org/officeDocument/2006/relationships" id="258" r:id="R70650603269141c6"/>
    <p:sldId xmlns:r="http://schemas.openxmlformats.org/officeDocument/2006/relationships" id="259" r:id="R9110a3b122284c18"/>
    <p:sldId xmlns:r="http://schemas.openxmlformats.org/officeDocument/2006/relationships" id="260" r:id="R1e14056739a74dcd"/>
    <p:sldId xmlns:r="http://schemas.openxmlformats.org/officeDocument/2006/relationships" id="261" r:id="Rc7a5b625e46446d1"/>
    <p:sldId xmlns:r="http://schemas.openxmlformats.org/officeDocument/2006/relationships" id="262" r:id="R3638f3d0390d4106"/>
    <p:sldId xmlns:r="http://schemas.openxmlformats.org/officeDocument/2006/relationships" id="263" r:id="R5d43dbb87fde4717"/>
    <p:sldId xmlns:r="http://schemas.openxmlformats.org/officeDocument/2006/relationships" id="264" r:id="R5391e6e00b494a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86f480992e4ad3" /><Relationship Type="http://schemas.openxmlformats.org/officeDocument/2006/relationships/slideMaster" Target="/ppt/slideMasters/slideMaster1.xml" Id="R73e0248c33c44148" /><Relationship Type="http://schemas.openxmlformats.org/officeDocument/2006/relationships/notesMaster" Target="/ppt/notesMasters/notesMaster1.xml" Id="Rfbe77deb5f064cd0" /><Relationship Type="http://schemas.openxmlformats.org/officeDocument/2006/relationships/presProps" Target="/ppt/presProps.xml" Id="Rac02ae6c4aed4b99" /><Relationship Type="http://schemas.openxmlformats.org/officeDocument/2006/relationships/tableStyles" Target="/ppt/tableStyles.xml" Id="R915c4ccd76e84bc9" /><Relationship Type="http://schemas.openxmlformats.org/officeDocument/2006/relationships/slide" Target="/ppt/slides/slide1.xml" Id="Rbb48947bb2654101" /><Relationship Type="http://schemas.openxmlformats.org/officeDocument/2006/relationships/slide" Target="/ppt/slides/slide2.xml" Id="Rcd3069950eab4069" /><Relationship Type="http://schemas.openxmlformats.org/officeDocument/2006/relationships/slide" Target="/ppt/slides/slide3.xml" Id="R70650603269141c6" /><Relationship Type="http://schemas.openxmlformats.org/officeDocument/2006/relationships/slide" Target="/ppt/slides/slide4.xml" Id="R9110a3b122284c18" /><Relationship Type="http://schemas.openxmlformats.org/officeDocument/2006/relationships/slide" Target="/ppt/slides/slide5.xml" Id="R1e14056739a74dcd" /><Relationship Type="http://schemas.openxmlformats.org/officeDocument/2006/relationships/slide" Target="/ppt/slides/slide6.xml" Id="Rc7a5b625e46446d1" /><Relationship Type="http://schemas.openxmlformats.org/officeDocument/2006/relationships/slide" Target="/ppt/slides/slide7.xml" Id="R3638f3d0390d4106" /><Relationship Type="http://schemas.openxmlformats.org/officeDocument/2006/relationships/slide" Target="/ppt/slides/slide8.xml" Id="R5d43dbb87fde4717" /><Relationship Type="http://schemas.openxmlformats.org/officeDocument/2006/relationships/slide" Target="/ppt/slides/slide9.xml" Id="R5391e6e00b494a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12355e62f849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nversation Practice">
      <a:dk1>
        <a:srgbClr val="17222F"/>
      </a:dk1>
      <a:lt1>
        <a:srgbClr val="FFFFFF"/>
      </a:lt1>
      <a:dk2>
        <a:srgbClr val="162A3C"/>
      </a:dk2>
      <a:lt2>
        <a:srgbClr val="F6F1E8"/>
      </a:lt2>
      <a:accent1>
        <a:srgbClr val="2D6F6B"/>
      </a:accent1>
      <a:accent2>
        <a:srgbClr val="C57A42"/>
      </a:accent2>
      <a:accent3>
        <a:srgbClr val="162A3C"/>
      </a:accent3>
      <a:accent4>
        <a:srgbClr val="A74A43"/>
      </a:accent4>
      <a:accent5>
        <a:srgbClr val="7FA6A0"/>
      </a:accent5>
      <a:accent6>
        <a:srgbClr val="F1DDCB"/>
      </a:accent6>
      <a:hlink>
        <a:srgbClr val="2D6F6B"/>
      </a:hlink>
      <a:folHlink>
        <a:srgbClr val="C57A42"/>
      </a:folHlink>
    </a:clrScheme>
    <a:fontScheme name="Office">
      <a:majorFont>
        <a:latin typeface="Calibri Light"/>
        <a:ea typeface="Calibri Light"/>
        <a:cs typeface="Calibri Light"/>
      </a:majorFont>
      <a:minorFont>
        <a:latin typeface="Calibri"/>
        <a:ea typeface="Calibri"/>
        <a:cs typeface="Calibri"/>
      </a:minorFont>
    </a:fontScheme>
    <a:fmtScheme name="Conversation Pract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4d3e4bda7645f5" /><Relationship Type="http://schemas.openxmlformats.org/officeDocument/2006/relationships/notesMaster" Target="/ppt/notesMasters/notesMaster1.xml" Id="R1a8406fd465046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6408fd2d984f9c" /><Relationship Type="http://schemas.openxmlformats.org/officeDocument/2006/relationships/notesMaster" Target="/ppt/notesMasters/notesMaster1.xml" Id="Rfb082b78155449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c04181cc66406b" /><Relationship Type="http://schemas.openxmlformats.org/officeDocument/2006/relationships/notesMaster" Target="/ppt/notesMasters/notesMaster1.xml" Id="R6e4aba777a354a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fc427bc34241f8" /><Relationship Type="http://schemas.openxmlformats.org/officeDocument/2006/relationships/notesMaster" Target="/ppt/notesMasters/notesMaster1.xml" Id="R036ffea5bdbd4b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a8d12bab174bb0" /><Relationship Type="http://schemas.openxmlformats.org/officeDocument/2006/relationships/notesMaster" Target="/ppt/notesMasters/notesMaster1.xml" Id="Rd24d9a865b2547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9c8b4358f44ed6" /><Relationship Type="http://schemas.openxmlformats.org/officeDocument/2006/relationships/notesMaster" Target="/ppt/notesMasters/notesMaster1.xml" Id="Redae443ae23b4f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b3e6188e71470e" /><Relationship Type="http://schemas.openxmlformats.org/officeDocument/2006/relationships/notesMaster" Target="/ppt/notesMasters/notesMaster1.xml" Id="Rf3d4723fe5d24c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f483b3001648e0" /><Relationship Type="http://schemas.openxmlformats.org/officeDocument/2006/relationships/notesMaster" Target="/ppt/notesMasters/notesMaster1.xml" Id="R156e8dd4b2764b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b3e9313fdf4f5c" /><Relationship Type="http://schemas.openxmlformats.org/officeDocument/2006/relationships/notesMaster" Target="/ppt/notesMasters/notesMaster1.xml" Id="R6a3e4d01b74941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r>
              <a:t/>
            </a:r>
          </a:p>
          <a:p xmlns:a="http://schemas.openxmlformats.org/drawingml/2006/main">
            <a:r>
              <a:t>Open: “The hardest customer conversations are usually practised for the first time when the customer is already on the line. Conversation Practice creates a safer place to rehearse the behavior before the consequences are real.”</a:t>
            </a:r>
          </a:p>
          <a:p xmlns:a="http://schemas.openxmlformats.org/drawingml/2006/main">
            <a:r>
              <a:t/>
            </a:r>
          </a:p>
          <a:p xmlns:a="http://schemas.openxmlformats.org/drawingml/2006/main">
            <a:r>
              <a:t>Set the expectation: this is not a claim that one prototype proves workplace outcomes. It is a demonstration of a governed learning loop: an authored Scenario, a spoken Attempt, a stable Rubric, evidence-based Feedback, an immediate retry, and a comparison that makes change visible.</a:t>
            </a:r>
          </a:p>
          <a:p xmlns:a="http://schemas.openxmlformats.org/drawingml/2006/main">
            <a:r>
              <a:t/>
            </a:r>
          </a:p>
          <a:p xmlns:a="http://schemas.openxmlformats.org/drawingml/2006/main">
            <a:r>
              <a:t>Transition: “First, consider what ordinary preparation leaves out.”</a:t>
            </a:r>
          </a:p>
          <a:p xmlns:a="http://schemas.openxmlformats.org/drawingml/2006/main">
            <a:r>
              <a:t>[Sources]</a:t>
            </a:r>
          </a:p>
          <a:p xmlns:a="http://schemas.openxmlformats.org/drawingml/2006/main">
            <a:r>
              <a:t>- Repository: CONTEXT.md</a:t>
            </a:r>
          </a:p>
          <a:p xmlns:a="http://schemas.openxmlformats.org/drawingml/2006/main">
            <a:r>
              <a:t>- Repository: src/scenario.ts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1½ minutes.</a:t>
            </a:r>
          </a:p>
          <a:p xmlns:a="http://schemas.openxmlformats.org/drawingml/2006/main">
            <a:r>
              <a:t/>
            </a:r>
          </a:p>
          <a:p xmlns:a="http://schemas.openxmlformats.org/drawingml/2006/main">
            <a:r>
              <a:t>Make the problem concrete without inventing statistics. Reading tips can make useful ideas available. Friendly role-play can make language more comfortable. But a difficult customer conversation adds decision pressure, resistance, and consequences: the Trainee has to choose what to do next while the Persona’s response depends on that choice.</a:t>
            </a:r>
          </a:p>
          <a:p xmlns:a="http://schemas.openxmlformats.org/drawingml/2006/main">
            <a:r>
              <a:t/>
            </a:r>
          </a:p>
          <a:p xmlns:a="http://schemas.openxmlformats.org/drawingml/2006/main">
            <a:r>
              <a:t>The instructional challenge is not “How do we tell someone to listen?” It is “How do we let someone practise listening when solving too quickly is tempting?”</a:t>
            </a:r>
          </a:p>
          <a:p xmlns:a="http://schemas.openxmlformats.org/drawingml/2006/main">
            <a:r>
              <a:t/>
            </a:r>
          </a:p>
          <a:p xmlns:a="http://schemas.openxmlformats.org/drawingml/2006/main">
            <a:r>
              <a:t>Do not claim AI role-play is categorically better than human practice. The point is that this prototype supplies a repeatable practice condition with a stable standard and evidence.</a:t>
            </a:r>
          </a:p>
          <a:p xmlns:a="http://schemas.openxmlformats.org/drawingml/2006/main">
            <a:r>
              <a:t/>
            </a:r>
          </a:p>
          <a:p xmlns:a="http://schemas.openxmlformats.org/drawingml/2006/main">
            <a:r>
              <a:t>Transition: “That leads to a simple learning-design question: what has to happen around the practice for it to be useful?”</a:t>
            </a:r>
          </a:p>
          <a:p xmlns:a="http://schemas.openxmlformats.org/drawingml/2006/main">
            <a:r>
              <a:t>[Sources]</a:t>
            </a:r>
          </a:p>
          <a:p xmlns:a="http://schemas.openxmlformats.org/drawingml/2006/main">
            <a:r>
              <a:t>- Repository: CONTEXT.md</a:t>
            </a:r>
          </a:p>
          <a:p xmlns:a="http://schemas.openxmlformats.org/drawingml/2006/main">
            <a:r>
              <a:t>- Repository: src/scenario.ts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a:t>
            </a:r>
          </a:p>
          <a:p xmlns:a="http://schemas.openxmlformats.org/drawingml/2006/main">
            <a:r>
              <a:t/>
            </a:r>
          </a:p>
          <a:p xmlns:a="http://schemas.openxmlformats.org/drawingml/2006/main">
            <a:r>
              <a:t>Use “aligned with” or “grounded in,” never “proved by.”</a:t>
            </a:r>
          </a:p>
          <a:p xmlns:a="http://schemas.openxmlformats.org/drawingml/2006/main">
            <a:r>
              <a:t/>
            </a:r>
          </a:p>
          <a:p xmlns:a="http://schemas.openxmlformats.org/drawingml/2006/main">
            <a:r>
              <a:t>Ericsson and colleagues: deliberate practice centers on focused improvement, informative feedback, and repeated performance of the same or similar tasks. Here that maps to one Scenario, Assessment and Feedback, an immediate retry, and comparison. Do not mention the simplified “10,000 hours” rule.</a:t>
            </a:r>
          </a:p>
          <a:p xmlns:a="http://schemas.openxmlformats.org/drawingml/2006/main">
            <a:r>
              <a:t/>
            </a:r>
          </a:p>
          <a:p xmlns:a="http://schemas.openxmlformats.org/drawingml/2006/main">
            <a:r>
              <a:t>Merrill: the prototype uses a real-world whole task, application, corrective coaching, reflection, and an opportunity to integrate the change in a second Attempt. Be explicit that modeled demonstration and varied Scenarios are future curriculum opportunities; this prototype does not fully implement every First Principle.</a:t>
            </a:r>
          </a:p>
          <a:p xmlns:a="http://schemas.openxmlformats.org/drawingml/2006/main">
            <a:r>
              <a:t/>
            </a:r>
          </a:p>
          <a:p xmlns:a="http://schemas.openxmlformats.org/drawingml/2006/main">
            <a:r>
              <a:t>Hattie and Timperley: “Where am I going?” is the fixed Rubric. “How am I going?” is the Assessment plus exact Transcript evidence. “Where to next?” is Feedback that gives the Trainee a specific next move. That is why task/process Feedback is more useful here than generic praise aimed at the person.</a:t>
            </a:r>
          </a:p>
          <a:p xmlns:a="http://schemas.openxmlformats.org/drawingml/2006/main">
            <a:r>
              <a:t/>
            </a:r>
          </a:p>
          <a:p xmlns:a="http://schemas.openxmlformats.org/drawingml/2006/main">
            <a:r>
              <a:t>Sadler strengthens the same loop: quality standard → comparison of current performance → action to close the gap maps to Rubric → Assessment → Feedback → second Attempt.</a:t>
            </a:r>
          </a:p>
          <a:p xmlns:a="http://schemas.openxmlformats.org/drawingml/2006/main">
            <a:r>
              <a:t/>
            </a:r>
          </a:p>
          <a:p xmlns:a="http://schemas.openxmlformats.org/drawingml/2006/main">
            <a:r>
              <a:t>Cook and colleagues provide analogous health-professions simulation evidence reporting favorable skills estimates for feedback and repetitive practice. The repetitive-practice estimate was based on seven studies and was not conventionally statistically significant; do not apply medical effect sizes to banking.</a:t>
            </a:r>
          </a:p>
          <a:p xmlns:a="http://schemas.openxmlformats.org/drawingml/2006/main">
            <a:r>
              <a:t/>
            </a:r>
          </a:p>
          <a:p xmlns:a="http://schemas.openxmlformats.org/drawingml/2006/main">
            <a:r>
              <a:t>Transition: “Those principles only become real when the Scenario itself is designed around something observable.”</a:t>
            </a:r>
          </a:p>
          <a:p xmlns:a="http://schemas.openxmlformats.org/drawingml/2006/main">
            <a:r>
              <a:t>[Sources]</a:t>
            </a:r>
          </a:p>
          <a:p xmlns:a="http://schemas.openxmlformats.org/drawingml/2006/main">
            <a:r>
              <a:t>- Ericsson, Krampe &amp; Tesch-Römer (1993): https://doi.org/10.1037/0033-295X.100.3.363</a:t>
            </a:r>
          </a:p>
          <a:p xmlns:a="http://schemas.openxmlformats.org/drawingml/2006/main">
            <a:r>
              <a:t>- Merrill (2002): https://doi.org/10.1007/BF02505024</a:t>
            </a:r>
          </a:p>
          <a:p xmlns:a="http://schemas.openxmlformats.org/drawingml/2006/main">
            <a:r>
              <a:t>- Hattie &amp; Timperley (2007): https://doi.org/10.3102/003465430298487</a:t>
            </a:r>
          </a:p>
          <a:p xmlns:a="http://schemas.openxmlformats.org/drawingml/2006/main">
            <a:r>
              <a:t>- Sadler (1989): https://doi.org/10.1007/BF00117714</a:t>
            </a:r>
          </a:p>
          <a:p xmlns:a="http://schemas.openxmlformats.org/drawingml/2006/main">
            <a:r>
              <a:t>- Cook et al. (2013), analogous health-professions evidence: https://pubmed.ncbi.nlm.nih.gov/22938677/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2½ minutes.</a:t>
            </a:r>
          </a:p>
          <a:p xmlns:a="http://schemas.openxmlformats.org/drawingml/2006/main">
            <a:r>
              <a:t/>
            </a:r>
          </a:p>
          <a:p xmlns:a="http://schemas.openxmlformats.org/drawingml/2006/main">
            <a:r>
              <a:t>Use the repository vocabulary exactly.</a:t>
            </a:r>
          </a:p>
          <a:p xmlns:a="http://schemas.openxmlformats.org/drawingml/2006/main">
            <a:r>
              <a:t/>
            </a:r>
          </a:p>
          <a:p xmlns:a="http://schemas.openxmlformats.org/drawingml/2006/main">
            <a:r>
              <a:t>The Briefing tells the Trainee the real-world role and the constraint: no discounts, waivers, or authority to change anything. The work is listening and responding.</a:t>
            </a:r>
          </a:p>
          <a:p xmlns:a="http://schemas.openxmlformats.org/drawingml/2006/main">
            <a:r>
              <a:t/>
            </a:r>
          </a:p>
          <a:p xmlns:a="http://schemas.openxmlformats.org/drawingml/2006/main">
            <a:r>
              <a:t>Jordan Avery’s public position is that they want to close the account. The Persona first gives a plausible cover story about fees and a cheaper alternative. The Private Profile says the cancellation is actually a protest: a prior representative was rushed and dismissive and made Jordan feel stupid for asking a simple question. Jordan may prefer to stay if genuinely heard.</a:t>
            </a:r>
          </a:p>
          <a:p xmlns:a="http://schemas.openxmlformats.org/drawingml/2006/main">
            <a:r>
              <a:t/>
            </a:r>
          </a:p>
          <a:p xmlns:a="http://schemas.openxmlformats.org/drawingml/2006/main">
            <a:r>
              <a:t>The first question only receives the cover story. A subsequent genuinely open follow-up invites the story. The Gate is met only after the Trainee specifically acknowledges the rushed, dismissive interaction and its effect without excuses, blame, or an immediate solution. After the Trainee checks whether Jordan feels heard, Jordan can say they prefer to keep the account open.</a:t>
            </a:r>
          </a:p>
          <a:p xmlns:a="http://schemas.openxmlformats.org/drawingml/2006/main">
            <a:r>
              <a:t/>
            </a:r>
          </a:p>
          <a:p xmlns:a="http://schemas.openxmlformats.org/drawingml/2006/main">
            <a:r>
              <a:t>The key design point: the Persona’s resistance, disclosure, and softening are authored around one observable learning objective rather than being random.</a:t>
            </a:r>
          </a:p>
          <a:p xmlns:a="http://schemas.openxmlformats.org/drawingml/2006/main">
            <a:r>
              <a:t/>
            </a:r>
          </a:p>
          <a:p xmlns:a="http://schemas.openxmlformats.org/drawingml/2006/main">
            <a:r>
              <a:t>The same six binary Rubric criteria judge every Attempt: establish the real reason before solving; ask an open question; surface the real reason; acknowledge the feeling specifically without excuses; respond without defensiveness, excuses, or blame; and check that the customer felt heard before moving on.</a:t>
            </a:r>
          </a:p>
          <a:p xmlns:a="http://schemas.openxmlformats.org/drawingml/2006/main">
            <a:r>
              <a:t/>
            </a:r>
          </a:p>
          <a:p xmlns:a="http://schemas.openxmlformats.org/drawingml/2006/main">
            <a:r>
              <a:t>Transition: “Once the Attempt ends, the system has to separate judgment from coaching.”</a:t>
            </a:r>
          </a:p>
          <a:p xmlns:a="http://schemas.openxmlformats.org/drawingml/2006/main">
            <a:r>
              <a:t>[Sources]</a:t>
            </a:r>
          </a:p>
          <a:p xmlns:a="http://schemas.openxmlformats.org/drawingml/2006/main">
            <a:r>
              <a:t>- Repository: CONTEXT.md</a:t>
            </a:r>
          </a:p>
          <a:p xmlns:a="http://schemas.openxmlformats.org/drawingml/2006/main">
            <a:r>
              <a:t>- Repository: src/scenario.ts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a:t>
            </a:r>
          </a:p>
          <a:p xmlns:a="http://schemas.openxmlformats.org/drawingml/2006/main">
            <a:r>
              <a:t/>
            </a:r>
          </a:p>
          <a:p xmlns:a="http://schemas.openxmlformats.org/drawingml/2006/main">
            <a:r>
              <a:t>Walk left to right.</a:t>
            </a:r>
          </a:p>
          <a:p xmlns:a="http://schemas.openxmlformats.org/drawingml/2006/main">
            <a:r>
              <a:t/>
            </a:r>
          </a:p>
          <a:p xmlns:a="http://schemas.openxmlformats.org/drawingml/2006/main">
            <a:r>
              <a:t>The Attempt is the spoken practice. The Assessment applies the same six binary Rubric criteria. For each criterion it returns met or not met and, where a qualifying moment exists, an exact quote from the reconstructed Transcript.</a:t>
            </a:r>
          </a:p>
          <a:p xmlns:a="http://schemas.openxmlformats.org/drawingml/2006/main">
            <a:r>
              <a:t/>
            </a:r>
          </a:p>
          <a:p xmlns:a="http://schemas.openxmlformats.org/drawingml/2006/main">
            <a:r>
              <a:t>The isolation is structural: the Persona never judges the Attempt it participated in. A different model and context produce the Assessment. This reduces the risk that the Persona’s participation biases the judgment toward flattering the Trainee.</a:t>
            </a:r>
          </a:p>
          <a:p xmlns:a="http://schemas.openxmlformats.org/drawingml/2006/main">
            <a:r>
              <a:t/>
            </a:r>
          </a:p>
          <a:p xmlns:a="http://schemas.openxmlformats.org/drawingml/2006/main">
            <a:r>
              <a:t>Feedback is a separate job. It cannot re-open or soften the verdicts. It translates the Assessment and specific Transcript moments into coaching written directly to the Trainee and gives a concrete next move.</a:t>
            </a:r>
          </a:p>
          <a:p xmlns:a="http://schemas.openxmlformats.org/drawingml/2006/main">
            <a:r>
              <a:t/>
            </a:r>
          </a:p>
          <a:p xmlns:a="http://schemas.openxmlformats.org/drawingml/2006/main">
            <a:r>
              <a:t>Then the Trainee retries immediately. The comparison places “Previous attempt” beside “This attempt” and keeps all six criteria visible.</a:t>
            </a:r>
          </a:p>
          <a:p xmlns:a="http://schemas.openxmlformats.org/drawingml/2006/main">
            <a:r>
              <a:t/>
            </a:r>
          </a:p>
          <a:p xmlns:a="http://schemas.openxmlformats.org/drawingml/2006/main">
            <a:r>
              <a:t>Be precise about the Transcript: it is reconstructed text, not a recording or verbatim ground truth.</a:t>
            </a:r>
          </a:p>
          <a:p xmlns:a="http://schemas.openxmlformats.org/drawingml/2006/main">
            <a:r>
              <a:t/>
            </a:r>
          </a:p>
          <a:p xmlns:a="http://schemas.openxmlformats.org/drawingml/2006/main">
            <a:r>
              <a:t>Transition: “Rather than explain the loop further, I’ll let you watch it work.”</a:t>
            </a:r>
          </a:p>
          <a:p xmlns:a="http://schemas.openxmlformats.org/drawingml/2006/main">
            <a:r>
              <a:t>[Sources]</a:t>
            </a:r>
          </a:p>
          <a:p xmlns:a="http://schemas.openxmlformats.org/drawingml/2006/main">
            <a:r>
              <a:t>- Repository: docs/adr/0001-grader-isolation.md</a:t>
            </a:r>
          </a:p>
          <a:p xmlns:a="http://schemas.openxmlformats.org/drawingml/2006/main">
            <a:r>
              <a:t>- Repository: docs/adr/0003-transcript-comes-from-the-persona-model.md</a:t>
            </a:r>
          </a:p>
          <a:p xmlns:a="http://schemas.openxmlformats.org/drawingml/2006/main">
            <a:r>
              <a:t>- Repository: src/server/assessment.ts</a:t>
            </a:r>
          </a:p>
          <a:p xmlns:a="http://schemas.openxmlformats.org/drawingml/2006/main">
            <a:r>
              <a:t>- Repository: src/server/feedback.ts</a:t>
            </a:r>
          </a:p>
          <a:p xmlns:a="http://schemas.openxmlformats.org/drawingml/2006/main">
            <a:r>
              <a:t>- Repository: src/attempt-comparison.ts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7–8 minutes, including both Attempts, Feedback, and comparison.</a:t>
            </a:r>
          </a:p>
          <a:p xmlns:a="http://schemas.openxmlformats.org/drawingml/2006/main">
            <a:r>
              <a:t/>
            </a:r>
          </a:p>
          <a:p xmlns:a="http://schemas.openxmlformats.org/drawingml/2006/main">
            <a:r>
              <a:t>Exact slide-to-demo transition:</a:t>
            </a:r>
          </a:p>
          <a:p xmlns:a="http://schemas.openxmlformats.org/drawingml/2006/main">
            <a:r>
              <a:t>“You’ve seen how the Scenario is designed and how an Attempt becomes coaching. Now I’m going to leave the deck and let you watch the learning loop end to end. Listen for one contrast: solving before understanding versus staying curious.”</a:t>
            </a:r>
          </a:p>
          <a:p xmlns:a="http://schemas.openxmlformats.org/drawingml/2006/main">
            <a:r>
              <a:t/>
            </a:r>
          </a:p>
          <a:p xmlns:a="http://schemas.openxmlformats.org/drawingml/2006/main">
            <a:r>
              <a:t>ATTEMPT ONE — deliberate failure. Say these lines in order:</a:t>
            </a:r>
          </a:p>
          <a:p xmlns:a="http://schemas.openxmlformats.org/drawingml/2006/main">
            <a:r>
              <a:t>1. “I can offer you a discount on your next six months.”</a:t>
            </a:r>
          </a:p>
          <a:p xmlns:a="http://schemas.openxmlformats.org/drawingml/2006/main">
            <a:r>
              <a:t>2. “What if I waived your fees entirely?”</a:t>
            </a:r>
          </a:p>
          <a:p xmlns:a="http://schemas.openxmlformats.org/drawingml/2006/main">
            <a:r>
              <a:t>3. “There’s a cheaper plan I could move you to today.”</a:t>
            </a:r>
          </a:p>
          <a:p xmlns:a="http://schemas.openxmlformats.org/drawingml/2006/main">
            <a:r>
              <a:t>4. “So can I keep you on with that?”</a:t>
            </a:r>
          </a:p>
          <a:p xmlns:a="http://schemas.openxmlformats.org/drawingml/2006/main">
            <a:r>
              <a:t/>
            </a:r>
          </a:p>
          <a:p xmlns:a="http://schemas.openxmlformats.org/drawingml/2006/main">
            <a:r>
              <a:t>Stop manually. Do not ask for account details. Do not confirm cancellation. Jordan should stay cold, not reveal the incident, and not hang up.</a:t>
            </a:r>
          </a:p>
          <a:p xmlns:a="http://schemas.openxmlformats.org/drawingml/2006/main">
            <a:r>
              <a:t/>
            </a:r>
          </a:p>
          <a:p xmlns:a="http://schemas.openxmlformats.org/drawingml/2006/main">
            <a:r>
              <a:t>Read the failed Feedback aloud. It should explain that solutions were introduced before learning what happened and model an open question such as: “Could you tell me what happened that led you to decide to close the account?”</a:t>
            </a:r>
          </a:p>
          <a:p xmlns:a="http://schemas.openxmlformats.org/drawingml/2006/main">
            <a:r>
              <a:t/>
            </a:r>
          </a:p>
          <a:p xmlns:a="http://schemas.openxmlformats.org/drawingml/2006/main">
            <a:r>
              <a:t>Open the comparison. Expect: “One more Attempt to compare.”</a:t>
            </a:r>
          </a:p>
          <a:p xmlns:a="http://schemas.openxmlformats.org/drawingml/2006/main">
            <a:r>
              <a:t/>
            </a:r>
          </a:p>
          <a:p xmlns:a="http://schemas.openxmlformats.org/drawingml/2006/main">
            <a:r>
              <a:t>ATTEMPT TWO — deliberate success. Say these lines/moves in order:</a:t>
            </a:r>
          </a:p>
          <a:p xmlns:a="http://schemas.openxmlformats.org/drawingml/2006/main">
            <a:r>
              <a:t>1. “Can you tell me what happened?”</a:t>
            </a:r>
          </a:p>
          <a:p xmlns:a="http://schemas.openxmlformats.org/drawingml/2006/main">
            <a:r>
              <a:t>2. After the price cover story: “Can you tell me what led to this?”</a:t>
            </a:r>
          </a:p>
          <a:p xmlns:a="http://schemas.openxmlformats.org/drawingml/2006/main">
            <a:r>
              <a:t>3. After Jordan reveals the prior incident, acknowledge that Jordan called with a straightforward question and was made to feel stupid; say it should not have happened. Do not add excuses, blame, or an immediate solution.</a:t>
            </a:r>
          </a:p>
          <a:p xmlns:a="http://schemas.openxmlformats.org/drawingml/2006/main">
            <a:r>
              <a:t>4. “Do you feel heard now?”</a:t>
            </a:r>
          </a:p>
          <a:p xmlns:a="http://schemas.openxmlformats.org/drawingml/2006/main">
            <a:r>
              <a:t/>
            </a:r>
          </a:p>
          <a:p xmlns:a="http://schemas.openxmlformats.org/drawingml/2006/main">
            <a:r>
              <a:t>Stop after Jordan responds. Jordan should confirm feeling heard and say they would prefer to keep the account open.</a:t>
            </a:r>
          </a:p>
          <a:p xmlns:a="http://schemas.openxmlformats.org/drawingml/2006/main">
            <a:r>
              <a:t/>
            </a:r>
          </a:p>
          <a:p xmlns:a="http://schemas.openxmlformats.org/drawingml/2006/main">
            <a:r>
              <a:t>Read the successful Feedback aloud. Open the comparison.</a:t>
            </a:r>
          </a:p>
          <a:p xmlns:a="http://schemas.openxmlformats.org/drawingml/2006/main">
            <a:r>
              <a:t/>
            </a:r>
          </a:p>
          <a:p xmlns:a="http://schemas.openxmlformats.org/drawingml/2006/main">
            <a:r>
              <a:t>Point out, in this order:</a:t>
            </a:r>
          </a:p>
          <a:p xmlns:a="http://schemas.openxmlformats.org/drawingml/2006/main">
            <a:r>
              <a:t>- The labels “Previous attempt” and “This attempt.”</a:t>
            </a:r>
          </a:p>
          <a:p xmlns:a="http://schemas.openxmlformats.org/drawingml/2006/main">
            <a:r>
              <a:t>- 0/6 versus 6/6. Say: “This is observed within one prototype Scenario; it is not proof of organizational effectiveness or workplace transfer.”</a:t>
            </a:r>
          </a:p>
          <a:p xmlns:a="http://schemas.openxmlformats.org/drawingml/2006/main">
            <a:r>
              <a:t>- Open criterion 3, “Surfaced the real reason.”</a:t>
            </a:r>
          </a:p>
          <a:p xmlns:a="http://schemas.openxmlformats.org/drawingml/2006/main">
            <a:r>
              <a:t>- Previous attempt evidence: “I can offer you a discount on your next six months.”</a:t>
            </a:r>
          </a:p>
          <a:p xmlns:a="http://schemas.openxmlformats.org/drawingml/2006/main">
            <a:r>
              <a:t>- This attempt evidence: Jordan’s disclosure that a representative was rushed and dismissive and made Jordan feel stupid for asking.</a:t>
            </a:r>
          </a:p>
          <a:p xmlns:a="http://schemas.openxmlformats.org/drawingml/2006/main">
            <a:r>
              <a:t>- For failed criteria 4, 5, and 6, point out “No qualifying Trainee moment.” Explain: the first Attempt never reached the moment those behaviors were possible.</a:t>
            </a:r>
          </a:p>
          <a:p xmlns:a="http://schemas.openxmlformats.org/drawingml/2006/main">
            <a:r>
              <a:t/>
            </a:r>
          </a:p>
          <a:p xmlns:a="http://schemas.openxmlformats.org/drawingml/2006/main">
            <a:r>
              <a:t>Exact demo-to-slide transition:</a:t>
            </a:r>
          </a:p>
          <a:p xmlns:a="http://schemas.openxmlformats.org/drawingml/2006/main">
            <a:r>
              <a:t>“What you just saw was not a different Scenario or a softer standard. It was the same six-criterion Rubric applied to two Attempts. Let’s look at what makes that improvement credible.”</a:t>
            </a:r>
          </a:p>
          <a:p xmlns:a="http://schemas.openxmlformats.org/drawingml/2006/main">
            <a:r>
              <a:t/>
            </a:r>
          </a:p>
          <a:p xmlns:a="http://schemas.openxmlformats.org/drawingml/2006/main">
            <a:r>
              <a:t>If the live demo fails:</a:t>
            </a:r>
          </a:p>
          <a:p xmlns:a="http://schemas.openxmlformats.org/drawingml/2006/main">
            <a:r>
              <a:t>“The live line has failed, so I won’t improvise a result. In the verified rehearsal, the first Attempt met 0 of 6 criteria and the second met 6 of 6. The important evidence is the same: criterion 3 moves from an opening offer that foreclosed discovery to Jordan’s exact prior-incident disclosure. I’ll continue with what that result does—and does not—show.”</a:t>
            </a:r>
          </a:p>
          <a:p xmlns:a="http://schemas.openxmlformats.org/drawingml/2006/main">
            <a:r>
              <a:t/>
            </a:r>
          </a:p>
          <a:p xmlns:a="http://schemas.openxmlformats.org/drawingml/2006/main">
            <a:r>
              <a:t>Likely executive questions and concise answers:</a:t>
            </a:r>
          </a:p>
          <a:p xmlns:a="http://schemas.openxmlformats.org/drawingml/2006/main">
            <a:r>
              <a:t/>
            </a:r>
          </a:p>
          <a:p xmlns:a="http://schemas.openxmlformats.org/drawingml/2006/main">
            <a:r>
              <a:t>Consistency — “The standard is fixed: the same Rubric and authored behavior rules apply to every Attempt. The spoken responses can vary, so consistency still requires repeated rehearsals, issue-driven tuning, and validation across Scenarios.”</a:t>
            </a:r>
          </a:p>
          <a:p xmlns:a="http://schemas.openxmlformats.org/drawingml/2006/main">
            <a:r>
              <a:t/>
            </a:r>
          </a:p>
          <a:p xmlns:a="http://schemas.openxmlformats.org/drawingml/2006/main">
            <a:r>
              <a:t>Assessment credibility — “The Persona is structurally isolated from Assessment, verdicts are binary, and qualifying judgments point to exact Transcript evidence. It is still model judgment, so a future program would validate it against expert review and monitor disagreements.”</a:t>
            </a:r>
          </a:p>
          <a:p xmlns:a="http://schemas.openxmlformats.org/drawingml/2006/main">
            <a:r>
              <a:t/>
            </a:r>
          </a:p>
          <a:p xmlns:a="http://schemas.openxmlformats.org/drawingml/2006/main">
            <a:r>
              <a:t>Privacy and synthetic data — “This prototype uses a synthetic Persona and fixed fictional details, not live customer data. Any bank deployment would require approved data boundaries, retention rules, access controls, and redaction appropriate to the use case.”</a:t>
            </a:r>
          </a:p>
          <a:p xmlns:a="http://schemas.openxmlformats.org/drawingml/2006/main">
            <a:r>
              <a:t/>
            </a:r>
          </a:p>
          <a:p xmlns:a="http://schemas.openxmlformats.org/drawingml/2006/main">
            <a:r>
              <a:t>Transfer — “The prototype shows within-Scenario improvement, not workplace transfer. Transfer must be demonstrated through generalization across varied Scenarios and sustained behavior at work over time.”</a:t>
            </a:r>
          </a:p>
          <a:p xmlns:a="http://schemas.openxmlformats.org/drawingml/2006/main">
            <a:r>
              <a:t/>
            </a:r>
          </a:p>
          <a:p xmlns:a="http://schemas.openxmlformats.org/drawingml/2006/main">
            <a:r>
              <a:t>Scalability — “The technical loop is repeatable, but Scenario authoring is curriculum work. Scaling responsibly means reusable standards, careful authoring, rehearsal, and quality assurance—not simply generating more content.”</a:t>
            </a:r>
          </a:p>
          <a:p xmlns:a="http://schemas.openxmlformats.org/drawingml/2006/main">
            <a:r>
              <a:t/>
            </a:r>
          </a:p>
          <a:p xmlns:a="http://schemas.openxmlformats.org/drawingml/2006/main">
            <a:r>
              <a:t>Manager-conversation extension — “The same design can apply to a specific observable manager behavior in feedback, accountability, performance, or conflict. It would need its own Briefing, Persona, Private Profile, Gate, and Rubric—not a generic reskin of this customer Scenario.”</a:t>
            </a:r>
          </a:p>
          <a:p xmlns:a="http://schemas.openxmlformats.org/drawingml/2006/main">
            <a:r>
              <a:t>[Sources]</a:t>
            </a:r>
          </a:p>
          <a:p xmlns:a="http://schemas.openxmlformats.org/drawingml/2006/main">
            <a:r>
              <a:t>- Repository: src/scenario.ts</a:t>
            </a:r>
          </a:p>
          <a:p xmlns:a="http://schemas.openxmlformats.org/drawingml/2006/main">
            <a:r>
              <a:t>- Repository: src/client/App.tsx</a:t>
            </a:r>
          </a:p>
          <a:p xmlns:a="http://schemas.openxmlformats.org/drawingml/2006/main">
            <a:r>
              <a:t>- Repository: src/attempt-comparison.ts</a:t>
            </a:r>
          </a:p>
          <a:p xmlns:a="http://schemas.openxmlformats.org/drawingml/2006/main">
            <a:r>
              <a:t>- Verified demo evidence and choreography supplied in the delegated brief because .scratch/conversation-practice/demo-rehearsal.md was absent from this worktree</a:t>
            </a:r>
          </a:p>
          <a:p xmlns:a="http://schemas.openxmlformats.org/drawingml/2006/main">
            <a:r>
              <a:t>- Kron et al. (2017), analogous medical-student virtual-human study: https://pmc.ncbi.nlm.nih.gov/articles/PMC5385273/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a:t>
            </a:r>
          </a:p>
          <a:p xmlns:a="http://schemas.openxmlformats.org/drawingml/2006/main">
            <a:r>
              <a:t/>
            </a:r>
          </a:p>
          <a:p xmlns:a="http://schemas.openxmlformats.org/drawingml/2006/main">
            <a:r>
              <a:t>Debrief only what was observed. The first Attempt met 0 of 6 Rubric criteria. The second met 6 of 6. This is within-Scenario prototype evidence—not proof of organizational effectiveness, customer outcomes, or workplace transfer.</a:t>
            </a:r>
          </a:p>
          <a:p xmlns:a="http://schemas.openxmlformats.org/drawingml/2006/main">
            <a:r>
              <a:t/>
            </a:r>
          </a:p>
          <a:p xmlns:a="http://schemas.openxmlformats.org/drawingml/2006/main">
            <a:r>
              <a:t>Let the authentic quotes carry the claim. On the left, the opening discount offer is exact Transcript evidence for the not-met criterion “Surfaced the real reason.” On the right, Jordan’s prior-incident disclosure is exact evidence for the met verdict.</a:t>
            </a:r>
          </a:p>
          <a:p xmlns:a="http://schemas.openxmlformats.org/drawingml/2006/main">
            <a:r>
              <a:t/>
            </a:r>
          </a:p>
          <a:p xmlns:a="http://schemas.openxmlformats.org/drawingml/2006/main">
            <a:r>
              <a:t>The credibility comes from four design choices:</a:t>
            </a:r>
          </a:p>
          <a:p xmlns:a="http://schemas.openxmlformats.org/drawingml/2006/main">
            <a:r>
              <a:t>1. The Rubric stays fixed across both Attempts.</a:t>
            </a:r>
          </a:p>
          <a:p xmlns:a="http://schemas.openxmlformats.org/drawingml/2006/main">
            <a:r>
              <a:t>2. Assessment is structurally isolated from the Persona.</a:t>
            </a:r>
          </a:p>
          <a:p xmlns:a="http://schemas.openxmlformats.org/drawingml/2006/main">
            <a:r>
              <a:t>3. Judgments point to exact Transcript evidence when a qualifying moment exists; otherwise the product says “No qualifying Trainee moment.”</a:t>
            </a:r>
          </a:p>
          <a:p xmlns:a="http://schemas.openxmlformats.org/drawingml/2006/main">
            <a:r>
              <a:t>4. Feedback cannot revise the verdicts; it translates them into coaching and a next move.</a:t>
            </a:r>
          </a:p>
          <a:p xmlns:a="http://schemas.openxmlformats.org/drawingml/2006/main">
            <a:r>
              <a:t/>
            </a:r>
          </a:p>
          <a:p xmlns:a="http://schemas.openxmlformats.org/drawingml/2006/main">
            <a:r>
              <a:t>If asked whether the Transcript is a recording, correct the premise: it is reconstructed text. The design deliberately keeps the evidence aligned with what the Persona model heard, but it should not be presented as a verbatim recording.</a:t>
            </a:r>
          </a:p>
          <a:p xmlns:a="http://schemas.openxmlformats.org/drawingml/2006/main">
            <a:r>
              <a:t/>
            </a:r>
          </a:p>
          <a:p xmlns:a="http://schemas.openxmlformats.org/drawingml/2006/main">
            <a:r>
              <a:t>Transition: “Customer conversations are the first place to apply this learning loop—not the boundary of it.”</a:t>
            </a:r>
          </a:p>
          <a:p xmlns:a="http://schemas.openxmlformats.org/drawingml/2006/main">
            <a:r>
              <a:t>[Sources]</a:t>
            </a:r>
          </a:p>
          <a:p xmlns:a="http://schemas.openxmlformats.org/drawingml/2006/main">
            <a:r>
              <a:t>- Repository: docs/adr/0001-grader-isolation.md</a:t>
            </a:r>
          </a:p>
          <a:p xmlns:a="http://schemas.openxmlformats.org/drawingml/2006/main">
            <a:r>
              <a:t>- Repository: docs/adr/0003-transcript-comes-from-the-persona-model.md</a:t>
            </a:r>
          </a:p>
          <a:p xmlns:a="http://schemas.openxmlformats.org/drawingml/2006/main">
            <a:r>
              <a:t>- Repository: src/server/assessment.ts</a:t>
            </a:r>
          </a:p>
          <a:p xmlns:a="http://schemas.openxmlformats.org/drawingml/2006/main">
            <a:r>
              <a:t>- Repository: src/server/feedback.ts</a:t>
            </a:r>
          </a:p>
          <a:p xmlns:a="http://schemas.openxmlformats.org/drawingml/2006/main">
            <a:r>
              <a:t>- Repository: src/attempt-comparison.ts</a:t>
            </a:r>
          </a:p>
          <a:p xmlns:a="http://schemas.openxmlformats.org/drawingml/2006/main">
            <a:r>
              <a:t>- Verified Attempt 37 and Attempt 38 evidence supplied in the delegated brief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a:t>
            </a:r>
          </a:p>
          <a:p xmlns:a="http://schemas.openxmlformats.org/drawingml/2006/main">
            <a:r>
              <a:t/>
            </a:r>
          </a:p>
          <a:p xmlns:a="http://schemas.openxmlformats.org/drawingml/2006/main">
            <a:r>
              <a:t>Keep the focus on customer conversations: frontline service, complaints, retention, and emotionally charged situations. Do not promise measured customer outcomes, retention gains, confidence gains, or adoption.</a:t>
            </a:r>
          </a:p>
          <a:p xmlns:a="http://schemas.openxmlformats.org/drawingml/2006/main">
            <a:r>
              <a:t/>
            </a:r>
          </a:p>
          <a:p xmlns:a="http://schemas.openxmlformats.org/drawingml/2006/main">
            <a:r>
              <a:t>The concise extension is difficult manager–employee conversations: giving feedback, holding accountability, discussing performance, or working through conflict. The credible claim is about design transfer, not proven workplace outcomes. A manager Scenario would need its own observable behavior, Briefing, Persona, Private Profile, Gate, Rubric, Assessment evidence rules, and Feedback—not a broad list of speculative AI use cases.</a:t>
            </a:r>
          </a:p>
          <a:p xmlns:a="http://schemas.openxmlformats.org/drawingml/2006/main">
            <a:r>
              <a:t/>
            </a:r>
          </a:p>
          <a:p xmlns:a="http://schemas.openxmlformats.org/drawingml/2006/main">
            <a:r>
              <a:t>Transition: “The prototype has proved the learning loop it was built to show. The next proof is harder—and more important.”</a:t>
            </a:r>
          </a:p>
          <a:p xmlns:a="http://schemas.openxmlformats.org/drawingml/2006/main">
            <a:r>
              <a:t>[Sources]</a:t>
            </a:r>
          </a:p>
          <a:p xmlns:a="http://schemas.openxmlformats.org/drawingml/2006/main">
            <a:r>
              <a:t>- Repository: CONTEXT.md</a:t>
            </a:r>
          </a:p>
          <a:p xmlns:a="http://schemas.openxmlformats.org/drawingml/2006/main">
            <a:r>
              <a:t>- Repository: src/scenario.ts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1½ minutes, leaving room for questions inside the 20-minute slot.</a:t>
            </a:r>
          </a:p>
          <a:p xmlns:a="http://schemas.openxmlformats.org/drawingml/2006/main">
            <a:r>
              <a:t/>
            </a:r>
          </a:p>
          <a:p xmlns:a="http://schemas.openxmlformats.org/drawingml/2006/main">
            <a:r>
              <a:t>Close with the distinction between the learning loop and transfer.</a:t>
            </a:r>
          </a:p>
          <a:p xmlns:a="http://schemas.openxmlformats.org/drawingml/2006/main">
            <a:r>
              <a:t/>
            </a:r>
          </a:p>
          <a:p xmlns:a="http://schemas.openxmlformats.org/drawingml/2006/main">
            <a:r>
              <a:t>What the prototype demonstrates:</a:t>
            </a:r>
          </a:p>
          <a:p xmlns:a="http://schemas.openxmlformats.org/drawingml/2006/main">
            <a:r>
              <a:t>- Authentic practice can be authored around a real-world role and constraint.</a:t>
            </a:r>
          </a:p>
          <a:p xmlns:a="http://schemas.openxmlformats.org/drawingml/2006/main">
            <a:r>
              <a:t>- Behavior can be judged against a stable Rubric.</a:t>
            </a:r>
          </a:p>
          <a:p xmlns:a="http://schemas.openxmlformats.org/drawingml/2006/main">
            <a:r>
              <a:t>- Coaching can point to the exact Transcript moment and give a next move.</a:t>
            </a:r>
          </a:p>
          <a:p xmlns:a="http://schemas.openxmlformats.org/drawingml/2006/main">
            <a:r>
              <a:t>- Improvement can be made visible across Attempts.</a:t>
            </a:r>
          </a:p>
          <a:p xmlns:a="http://schemas.openxmlformats.org/drawingml/2006/main">
            <a:r>
              <a:t/>
            </a:r>
          </a:p>
          <a:p xmlns:a="http://schemas.openxmlformats.org/drawingml/2006/main">
            <a:r>
              <a:t>What it has not proved:</a:t>
            </a:r>
          </a:p>
          <a:p xmlns:a="http://schemas.openxmlformats.org/drawingml/2006/main">
            <a:r>
              <a:t>- Generalization across varied Scenarios.</a:t>
            </a:r>
          </a:p>
          <a:p xmlns:a="http://schemas.openxmlformats.org/drawingml/2006/main">
            <a:r>
              <a:t>- Maintenance of behavior at work over time.</a:t>
            </a:r>
          </a:p>
          <a:p xmlns:a="http://schemas.openxmlformats.org/drawingml/2006/main">
            <a:r>
              <a:t>- Customer, employee, retention, confidence, adoption, ROI, or enterprise-readiness outcomes.</a:t>
            </a:r>
          </a:p>
          <a:p xmlns:a="http://schemas.openxmlformats.org/drawingml/2006/main">
            <a:r>
              <a:t/>
            </a:r>
          </a:p>
          <a:p xmlns:a="http://schemas.openxmlformats.org/drawingml/2006/main">
            <a:r>
              <a:t>Baldwin and Ford define transfer as generalization to the job and maintenance over time. Use that as the honest next standard. A future program would validate Assessment against expert review, build varied Scenarios, observe performance beyond the practice environment, and test whether change persists.</a:t>
            </a:r>
          </a:p>
          <a:p xmlns:a="http://schemas.openxmlformats.org/drawingml/2006/main">
            <a:r>
              <a:t/>
            </a:r>
          </a:p>
          <a:p xmlns:a="http://schemas.openxmlformats.org/drawingml/2006/main">
            <a:r>
              <a:t>Final line: “The implication is not that AI has solved difficult conversations. It is that governed AI can make the practice of those conversations observable, repeatable, and improvable—and that gives us a disciplined next question worth answering.”</a:t>
            </a:r>
          </a:p>
          <a:p xmlns:a="http://schemas.openxmlformats.org/drawingml/2006/main">
            <a:r>
              <a:t/>
            </a:r>
          </a:p>
          <a:p xmlns:a="http://schemas.openxmlformats.org/drawingml/2006/main">
            <a:r>
              <a:t>Do not end with “Thank you,” a formal request, or an explicit API-access ask.</a:t>
            </a:r>
          </a:p>
          <a:p xmlns:a="http://schemas.openxmlformats.org/drawingml/2006/main">
            <a:r>
              <a:t>[Sources]</a:t>
            </a:r>
          </a:p>
          <a:p xmlns:a="http://schemas.openxmlformats.org/drawingml/2006/main">
            <a:r>
              <a:t>- Baldwin &amp; Ford (1988): https://doi.org/10.1111/j.1744-6570.1988.tb00632.x</a:t>
            </a:r>
          </a:p>
          <a:p xmlns:a="http://schemas.openxmlformats.org/drawingml/2006/main">
            <a:r>
              <a:t>- Sadler (1989): https://doi.org/10.1007/BF00117714</a:t>
            </a:r>
          </a:p>
          <a:p xmlns:a="http://schemas.openxmlformats.org/drawingml/2006/main">
            <a:r>
              <a:t>- Repository: CONTEXT.md</a:t>
            </a:r>
          </a:p>
          <a:p xmlns:a="http://schemas.openxmlformats.org/drawingml/2006/main">
            <a:r>
              <a:t>- Repository: src/scenario.ts</a:t>
            </a:r>
          </a:p>
          <a:p xmlns:a="http://schemas.openxmlformats.org/drawingml/2006/main">
            <a:r>
              <a:t>- Repository: src/server/assessment.ts</a:t>
            </a:r>
          </a:p>
          <a:p xmlns:a="http://schemas.openxmlformats.org/drawingml/2006/main">
            <a:r>
              <a:t>- Repository: src/server/feedback.ts</a:t>
            </a:r>
          </a:p>
          <a:p xmlns:a="http://schemas.openxmlformats.org/drawingml/2006/main">
            <a:r>
              <a:t>- Repository: src/attempt-comparison.ts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d13e4e764343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881aa18bac407b" /><Relationship Type="http://schemas.openxmlformats.org/officeDocument/2006/relationships/slideLayout" Target="/ppt/slideLayouts/slideLayout1.xml" Id="R1b999a90252a47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999a90252a47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onversation Practice">
      <a:dk1>
        <a:srgbClr val="17222F"/>
      </a:dk1>
      <a:lt1>
        <a:srgbClr val="FFFFFF"/>
      </a:lt1>
      <a:dk2>
        <a:srgbClr val="162A3C"/>
      </a:dk2>
      <a:lt2>
        <a:srgbClr val="F6F1E8"/>
      </a:lt2>
      <a:accent1>
        <a:srgbClr val="2D6F6B"/>
      </a:accent1>
      <a:accent2>
        <a:srgbClr val="C57A42"/>
      </a:accent2>
      <a:accent3>
        <a:srgbClr val="162A3C"/>
      </a:accent3>
      <a:accent4>
        <a:srgbClr val="A74A43"/>
      </a:accent4>
      <a:accent5>
        <a:srgbClr val="7FA6A0"/>
      </a:accent5>
      <a:accent6>
        <a:srgbClr val="F1DDCB"/>
      </a:accent6>
      <a:hlink>
        <a:srgbClr val="2D6F6B"/>
      </a:hlink>
      <a:folHlink>
        <a:srgbClr val="C57A42"/>
      </a:folHlink>
    </a:clrScheme>
    <a:fontScheme name="Office">
      <a:majorFont>
        <a:latin typeface="Calibri Light"/>
        <a:ea typeface="Calibri Light"/>
        <a:cs typeface="Calibri Light"/>
      </a:majorFont>
      <a:minorFont>
        <a:latin typeface="Calibri"/>
        <a:ea typeface="Calibri"/>
        <a:cs typeface="Calibri"/>
      </a:minorFont>
    </a:fontScheme>
    <a:fmtScheme name="Conversation Pract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b54f547d4046c1" /><Relationship Type="http://schemas.openxmlformats.org/officeDocument/2006/relationships/notesSlide" Target="/ppt/notesSlides/notesSlide1.xml" Id="Rfd6c9e34a51345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2f1d8f2d68411c" /><Relationship Type="http://schemas.openxmlformats.org/officeDocument/2006/relationships/notesSlide" Target="/ppt/notesSlides/notesSlide2.xml" Id="R2ac4a80c0996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963fd11197412f" /><Relationship Type="http://schemas.openxmlformats.org/officeDocument/2006/relationships/notesSlide" Target="/ppt/notesSlides/notesSlide3.xml" Id="R44761274837f48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452ca9f1ec4b3f" /><Relationship Type="http://schemas.openxmlformats.org/officeDocument/2006/relationships/notesSlide" Target="/ppt/notesSlides/notesSlide4.xml" Id="R3b344b818fd04e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07de2a2d2546ab" /><Relationship Type="http://schemas.openxmlformats.org/officeDocument/2006/relationships/notesSlide" Target="/ppt/notesSlides/notesSlide5.xml" Id="R9ea5cb40984a42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d3b73c653843e7" /><Relationship Type="http://schemas.openxmlformats.org/officeDocument/2006/relationships/notesSlide" Target="/ppt/notesSlides/notesSlide6.xml" Id="Ra28f6d5966ab4c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61c4b3d4cd4e27" /><Relationship Type="http://schemas.openxmlformats.org/officeDocument/2006/relationships/notesSlide" Target="/ppt/notesSlides/notesSlide7.xml" Id="Rdb0cec03218a40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a000d53dd84746" /><Relationship Type="http://schemas.openxmlformats.org/officeDocument/2006/relationships/notesSlide" Target="/ppt/notesSlides/notesSlide8.xml" Id="R00f9e2ceb9e944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9a5540d7794c32" /><Relationship Type="http://schemas.openxmlformats.org/officeDocument/2006/relationships/notesSlide" Target="/ppt/notesSlides/notesSlide9.xml" Id="R9325a8997bd84beb" /></Relationships>
</file>

<file path=ppt/slides/slide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le-vertical-rule">
            <a:extLst xmlns:a="http://schemas.openxmlformats.org/drawingml/2006/main">
              <a:ext uri="{FF2B5EF4-FFF2-40B4-BE49-F238E27FC236}">
                <a16:creationId xmlns:a16="http://schemas.microsoft.com/office/drawing/2014/main" id="{2D3929AE-8099-49F1-A9F0-299BAF28AD43}"/>
              </a:ext>
            </a:extLst>
          </p:cNvPr>
          <p:cNvSpPr>
            <a:spLocks xmlns:a="http://schemas.openxmlformats.org/drawingml/2006/main" noGrp="1"/>
          </p:cNvSpPr>
          <p:nvPr/>
        </p:nvSpPr>
        <p:spPr>
          <a:xfrm xmlns:a="http://schemas.openxmlformats.org/drawingml/2006/main">
            <a:off x="1104900" y="819150"/>
            <a:ext cx="0" cy="474345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2D6F6B"/>
            </a:solidFill>
            <a:prstDash val="solid"/>
          </a:ln>
        </p:spPr>
      </p:sp>
      <p:sp>
        <p:nvSpPr>
          <p:cNvPr id="2" name="title-eyebrow">
            <a:extLst xmlns:a="http://schemas.openxmlformats.org/drawingml/2006/main">
              <a:ext uri="{FF2B5EF4-FFF2-40B4-BE49-F238E27FC236}">
                <a16:creationId xmlns:a16="http://schemas.microsoft.com/office/drawing/2014/main" id="{6ECE4642-9CBB-4C57-A4CA-2A0A3CBE5CC8}"/>
              </a:ext>
            </a:extLst>
          </p:cNvPr>
          <p:cNvSpPr>
            <a:spLocks xmlns:a="http://schemas.openxmlformats.org/drawingml/2006/main" noGrp="1"/>
          </p:cNvSpPr>
          <p:nvPr/>
        </p:nvSpPr>
        <p:spPr>
          <a:xfrm xmlns:a="http://schemas.openxmlformats.org/drawingml/2006/main">
            <a:off x="1485900" y="104775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D6F6B"/>
                </a:solidFill>
                <a:latin typeface="Aptos"/>
                <a:ea typeface="Aptos"/>
                <a:cs typeface="Aptos"/>
              </a:defRPr>
            </a:pPr>
            <a:r>
              <a:rPr sz="1500" b="1" i="0">
                <a:solidFill>
                  <a:srgbClr val="2D6F6B"/>
                </a:solidFill>
                <a:latin typeface="Aptos"/>
                <a:ea typeface="Aptos"/>
                <a:cs typeface="Aptos"/>
              </a:rPr>
              <a:t>EXECUTIVE DEMONSTRATION</a:t>
            </a:r>
          </a:p>
        </p:txBody>
      </p:sp>
      <p:sp>
        <p:nvSpPr>
          <p:cNvPr id="3" name="title-main">
            <a:extLst xmlns:a="http://schemas.openxmlformats.org/drawingml/2006/main">
              <a:ext uri="{FF2B5EF4-FFF2-40B4-BE49-F238E27FC236}">
                <a16:creationId xmlns:a16="http://schemas.microsoft.com/office/drawing/2014/main" id="{AFBEC234-0938-4D7B-A7CA-826D847AD440}"/>
              </a:ext>
            </a:extLst>
          </p:cNvPr>
          <p:cNvSpPr>
            <a:spLocks xmlns:a="http://schemas.openxmlformats.org/drawingml/2006/main" noGrp="1"/>
          </p:cNvSpPr>
          <p:nvPr/>
        </p:nvSpPr>
        <p:spPr>
          <a:xfrm xmlns:a="http://schemas.openxmlformats.org/drawingml/2006/main">
            <a:off x="1428750" y="1809750"/>
            <a:ext cx="723900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6150" b="1" i="0">
                <a:solidFill>
                  <a:srgbClr val="162A3C"/>
                </a:solidFill>
                <a:latin typeface="Aptos Display"/>
                <a:ea typeface="Aptos Display"/>
                <a:cs typeface="Aptos Display"/>
              </a:defRPr>
            </a:pPr>
            <a:r>
              <a:rPr sz="6150" b="1" i="0">
                <a:solidFill>
                  <a:srgbClr val="162A3C"/>
                </a:solidFill>
                <a:latin typeface="Aptos Display"/>
                <a:ea typeface="Aptos Display"/>
                <a:cs typeface="Aptos Display"/>
              </a:rPr>
              <a:t>Conversation</a:t>
            </a:r>
          </a:p>
          <a:p xmlns:a="http://schemas.openxmlformats.org/drawingml/2006/main">
            <a:pPr algn="l">
              <a:lnSpc>
                <a:spcPct val="86000"/>
              </a:lnSpc>
              <a:buNone/>
              <a:defRPr sz="6150" b="1" i="0">
                <a:solidFill>
                  <a:srgbClr val="162A3C"/>
                </a:solidFill>
                <a:latin typeface="Aptos Display"/>
                <a:ea typeface="Aptos Display"/>
                <a:cs typeface="Aptos Display"/>
              </a:defRPr>
            </a:pPr>
            <a:r>
              <a:rPr sz="6150" b="1" i="0">
                <a:solidFill>
                  <a:srgbClr val="162A3C"/>
                </a:solidFill>
                <a:latin typeface="Aptos Display"/>
                <a:ea typeface="Aptos Display"/>
                <a:cs typeface="Aptos Display"/>
              </a:rPr>
              <a:t>Practice</a:t>
            </a:r>
          </a:p>
        </p:txBody>
      </p:sp>
      <p:sp>
        <p:nvSpPr>
          <p:cNvPr id="4" name="title-subtitle">
            <a:extLst xmlns:a="http://schemas.openxmlformats.org/drawingml/2006/main">
              <a:ext uri="{FF2B5EF4-FFF2-40B4-BE49-F238E27FC236}">
                <a16:creationId xmlns:a16="http://schemas.microsoft.com/office/drawing/2014/main" id="{675D637D-0A1A-4C88-9D41-00E1EDA32F72}"/>
              </a:ext>
            </a:extLst>
          </p:cNvPr>
          <p:cNvSpPr>
            <a:spLocks xmlns:a="http://schemas.openxmlformats.org/drawingml/2006/main" noGrp="1"/>
          </p:cNvSpPr>
          <p:nvPr/>
        </p:nvSpPr>
        <p:spPr>
          <a:xfrm xmlns:a="http://schemas.openxmlformats.org/drawingml/2006/main">
            <a:off x="1485900" y="4305300"/>
            <a:ext cx="6667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0" i="0">
                <a:solidFill>
                  <a:srgbClr val="17222F"/>
                </a:solidFill>
                <a:latin typeface="Aptos"/>
                <a:ea typeface="Aptos"/>
                <a:cs typeface="Aptos"/>
              </a:defRPr>
            </a:pPr>
            <a:r>
              <a:rPr sz="2325" b="0" i="0">
                <a:solidFill>
                  <a:srgbClr val="17222F"/>
                </a:solidFill>
                <a:latin typeface="Aptos"/>
                <a:ea typeface="Aptos"/>
                <a:cs typeface="Aptos"/>
              </a:rPr>
              <a:t>Difficult conversations can be rehearsed</a:t>
            </a:r>
          </a:p>
          <a:p xmlns:a="http://schemas.openxmlformats.org/drawingml/2006/main">
            <a:pPr algn="l">
              <a:lnSpc>
                <a:spcPct val="100000"/>
              </a:lnSpc>
              <a:buNone/>
              <a:defRPr sz="2325" b="0" i="0">
                <a:solidFill>
                  <a:srgbClr val="17222F"/>
                </a:solidFill>
                <a:latin typeface="Aptos"/>
                <a:ea typeface="Aptos"/>
                <a:cs typeface="Aptos"/>
              </a:defRPr>
            </a:pPr>
            <a:r>
              <a:rPr sz="2325" b="0" i="0">
                <a:solidFill>
                  <a:srgbClr val="17222F"/>
                </a:solidFill>
                <a:latin typeface="Aptos"/>
                <a:ea typeface="Aptos"/>
                <a:cs typeface="Aptos"/>
              </a:rPr>
              <a:t>before their consequences are real.</a:t>
            </a:r>
          </a:p>
        </p:txBody>
      </p:sp>
      <p:sp>
        <p:nvSpPr>
          <p:cNvPr id="5" name="title-motif">
            <a:extLst xmlns:a="http://schemas.openxmlformats.org/drawingml/2006/main">
              <a:ext uri="{FF2B5EF4-FFF2-40B4-BE49-F238E27FC236}">
                <a16:creationId xmlns:a16="http://schemas.microsoft.com/office/drawing/2014/main" id="{6C94E945-7EF3-4939-BE61-F8C5C1DCF343}"/>
              </a:ext>
            </a:extLst>
          </p:cNvPr>
          <p:cNvSpPr>
            <a:spLocks xmlns:a="http://schemas.openxmlformats.org/drawingml/2006/main" noGrp="1"/>
          </p:cNvSpPr>
          <p:nvPr/>
        </p:nvSpPr>
        <p:spPr>
          <a:xfrm xmlns:a="http://schemas.openxmlformats.org/drawingml/2006/main">
            <a:off x="9525000" y="2495550"/>
            <a:ext cx="14287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700" b="1" i="0">
                <a:solidFill>
                  <a:srgbClr val="C57A42"/>
                </a:solidFill>
                <a:latin typeface="Aptos"/>
                <a:ea typeface="Aptos"/>
                <a:cs typeface="Aptos"/>
              </a:defRPr>
            </a:pPr>
            <a:r>
              <a:rPr sz="2700" b="1" i="0">
                <a:solidFill>
                  <a:srgbClr val="C57A42"/>
                </a:solidFill>
                <a:latin typeface="Aptos"/>
                <a:ea typeface="Aptos"/>
                <a:cs typeface="Aptos"/>
              </a:rPr>
              <a:t>•  •  •</a:t>
            </a:r>
          </a:p>
        </p:txBody>
      </p:sp>
      <p:sp>
        <p:nvSpPr>
          <p:cNvPr id="6" name="title-motif-caption">
            <a:extLst xmlns:a="http://schemas.openxmlformats.org/drawingml/2006/main">
              <a:ext uri="{FF2B5EF4-FFF2-40B4-BE49-F238E27FC236}">
                <a16:creationId xmlns:a16="http://schemas.microsoft.com/office/drawing/2014/main" id="{8249BB56-AE65-41DC-B9B7-1009982F6E17}"/>
              </a:ext>
            </a:extLst>
          </p:cNvPr>
          <p:cNvSpPr>
            <a:spLocks xmlns:a="http://schemas.openxmlformats.org/drawingml/2006/main" noGrp="1"/>
          </p:cNvSpPr>
          <p:nvPr/>
        </p:nvSpPr>
        <p:spPr>
          <a:xfrm xmlns:a="http://schemas.openxmlformats.org/drawingml/2006/main">
            <a:off x="9048750" y="3067050"/>
            <a:ext cx="2476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i="0">
                <a:solidFill>
                  <a:srgbClr val="5B6670"/>
                </a:solidFill>
                <a:latin typeface="Aptos"/>
                <a:ea typeface="Aptos"/>
                <a:cs typeface="Aptos"/>
              </a:defRPr>
            </a:pPr>
            <a:r>
              <a:rPr sz="1500" b="0" i="0">
                <a:solidFill>
                  <a:srgbClr val="5B6670"/>
                </a:solidFill>
                <a:latin typeface="Aptos"/>
                <a:ea typeface="Aptos"/>
                <a:cs typeface="Aptos"/>
              </a:rPr>
              <a:t>speak  ·  see  ·  retry</a:t>
            </a:r>
          </a:p>
        </p:txBody>
      </p:sp>
    </p:spTree>
    <p:extLst>
      <p:ext uri="{BB962C8B-B14F-4D97-AF65-F5344CB8AC3E}">
        <p14:creationId xmlns:p14="http://schemas.microsoft.com/office/powerpoint/2010/main" val="1834308489"/>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6" name="slide-2-title">
            <a:extLst xmlns:a="http://schemas.openxmlformats.org/drawingml/2006/main">
              <a:ext uri="{FF2B5EF4-FFF2-40B4-BE49-F238E27FC236}">
                <a16:creationId xmlns:a16="http://schemas.microsoft.com/office/drawing/2014/main" id="{C71E20ED-CAD1-436B-9246-8656057688DE}"/>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Most difficult conversations are first attempted</a:t>
            </a:r>
          </a:p>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when the stakes are real</a:t>
            </a:r>
          </a:p>
        </p:txBody>
      </p:sp>
      <p:sp>
        <p:nvSpPr>
          <p:cNvPr id="2" name="slide-2-top-rule">
            <a:extLst xmlns:a="http://schemas.openxmlformats.org/drawingml/2006/main">
              <a:ext uri="{FF2B5EF4-FFF2-40B4-BE49-F238E27FC236}">
                <a16:creationId xmlns:a16="http://schemas.microsoft.com/office/drawing/2014/main" id="{74282637-0702-4F4C-B8AC-F4345A84B6B9}"/>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stakes-lead">
            <a:extLst xmlns:a="http://schemas.openxmlformats.org/drawingml/2006/main">
              <a:ext uri="{FF2B5EF4-FFF2-40B4-BE49-F238E27FC236}">
                <a16:creationId xmlns:a16="http://schemas.microsoft.com/office/drawing/2014/main" id="{51308447-7CF3-4035-9339-D7B0FF0037D9}"/>
              </a:ext>
            </a:extLst>
          </p:cNvPr>
          <p:cNvSpPr>
            <a:spLocks xmlns:a="http://schemas.openxmlformats.org/drawingml/2006/main" noGrp="1"/>
          </p:cNvSpPr>
          <p:nvPr/>
        </p:nvSpPr>
        <p:spPr>
          <a:xfrm xmlns:a="http://schemas.openxmlformats.org/drawingml/2006/main">
            <a:off x="685800" y="1809750"/>
            <a:ext cx="4762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00" b="1" i="0">
                <a:solidFill>
                  <a:srgbClr val="162A3C"/>
                </a:solidFill>
                <a:latin typeface="Aptos Display"/>
                <a:ea typeface="Aptos Display"/>
                <a:cs typeface="Aptos Display"/>
              </a:defRPr>
            </a:pPr>
            <a:r>
              <a:rPr sz="2700" b="1" i="0">
                <a:solidFill>
                  <a:srgbClr val="162A3C"/>
                </a:solidFill>
                <a:latin typeface="Aptos Display"/>
                <a:ea typeface="Aptos Display"/>
                <a:cs typeface="Aptos Display"/>
              </a:rPr>
              <a:t>Advice can describe the move.</a:t>
            </a:r>
          </a:p>
        </p:txBody>
      </p:sp>
      <p:sp>
        <p:nvSpPr>
          <p:cNvPr id="4" name="stakes-counter">
            <a:extLst xmlns:a="http://schemas.openxmlformats.org/drawingml/2006/main">
              <a:ext uri="{FF2B5EF4-FFF2-40B4-BE49-F238E27FC236}">
                <a16:creationId xmlns:a16="http://schemas.microsoft.com/office/drawing/2014/main" id="{0895089C-6336-4212-A104-BF6ABF284B52}"/>
              </a:ext>
            </a:extLst>
          </p:cNvPr>
          <p:cNvSpPr>
            <a:spLocks xmlns:a="http://schemas.openxmlformats.org/drawingml/2006/main" noGrp="1"/>
          </p:cNvSpPr>
          <p:nvPr/>
        </p:nvSpPr>
        <p:spPr>
          <a:xfrm xmlns:a="http://schemas.openxmlformats.org/drawingml/2006/main">
            <a:off x="685800" y="2419350"/>
            <a:ext cx="5334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150" b="1" i="0">
                <a:solidFill>
                  <a:srgbClr val="2D6F6B"/>
                </a:solidFill>
                <a:latin typeface="Aptos Display"/>
                <a:ea typeface="Aptos Display"/>
                <a:cs typeface="Aptos Display"/>
              </a:defRPr>
            </a:pPr>
            <a:r>
              <a:rPr sz="3150" b="1" i="0">
                <a:solidFill>
                  <a:srgbClr val="2D6F6B"/>
                </a:solidFill>
                <a:latin typeface="Aptos Display"/>
                <a:ea typeface="Aptos Display"/>
                <a:cs typeface="Aptos Display"/>
              </a:rPr>
              <a:t>It cannot recreate the moment</a:t>
            </a:r>
          </a:p>
          <a:p xmlns:a="http://schemas.openxmlformats.org/drawingml/2006/main">
            <a:pPr algn="l">
              <a:lnSpc>
                <a:spcPct val="95000"/>
              </a:lnSpc>
              <a:buNone/>
              <a:defRPr sz="3150" b="1" i="0">
                <a:solidFill>
                  <a:srgbClr val="2D6F6B"/>
                </a:solidFill>
                <a:latin typeface="Aptos Display"/>
                <a:ea typeface="Aptos Display"/>
                <a:cs typeface="Aptos Display"/>
              </a:defRPr>
            </a:pPr>
            <a:r>
              <a:rPr sz="3150" b="1" i="0">
                <a:solidFill>
                  <a:srgbClr val="2D6F6B"/>
                </a:solidFill>
                <a:latin typeface="Aptos Display"/>
                <a:ea typeface="Aptos Display"/>
                <a:cs typeface="Aptos Display"/>
              </a:rPr>
              <a:t>when the other person resists it.</a:t>
            </a:r>
          </a:p>
        </p:txBody>
      </p:sp>
      <p:sp>
        <p:nvSpPr>
          <p:cNvPr id="5" name="stakes-divider">
            <a:extLst xmlns:a="http://schemas.openxmlformats.org/drawingml/2006/main">
              <a:ext uri="{FF2B5EF4-FFF2-40B4-BE49-F238E27FC236}">
                <a16:creationId xmlns:a16="http://schemas.microsoft.com/office/drawing/2014/main" id="{360B3892-AB4D-4D71-A64A-4929C7501A66}"/>
              </a:ext>
            </a:extLst>
          </p:cNvPr>
          <p:cNvSpPr>
            <a:spLocks xmlns:a="http://schemas.openxmlformats.org/drawingml/2006/main" noGrp="1"/>
          </p:cNvSpPr>
          <p:nvPr/>
        </p:nvSpPr>
        <p:spPr>
          <a:xfrm xmlns:a="http://schemas.openxmlformats.org/drawingml/2006/main">
            <a:off x="6400800" y="1733550"/>
            <a:ext cx="0" cy="371475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C8C0B3"/>
            </a:solidFill>
            <a:prstDash val="solid"/>
          </a:ln>
        </p:spPr>
      </p:sp>
      <p:sp>
        <p:nvSpPr>
          <p:cNvPr id="6" name="stakes-label-0">
            <a:extLst xmlns:a="http://schemas.openxmlformats.org/drawingml/2006/main">
              <a:ext uri="{FF2B5EF4-FFF2-40B4-BE49-F238E27FC236}">
                <a16:creationId xmlns:a16="http://schemas.microsoft.com/office/drawing/2014/main" id="{4EFA388F-9E6D-4118-80AB-410A3D46F615}"/>
              </a:ext>
            </a:extLst>
          </p:cNvPr>
          <p:cNvSpPr>
            <a:spLocks xmlns:a="http://schemas.openxmlformats.org/drawingml/2006/main" noGrp="1"/>
          </p:cNvSpPr>
          <p:nvPr/>
        </p:nvSpPr>
        <p:spPr>
          <a:xfrm xmlns:a="http://schemas.openxmlformats.org/drawingml/2006/main">
            <a:off x="6877050" y="18097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6F6B"/>
                </a:solidFill>
                <a:latin typeface="Aptos"/>
                <a:ea typeface="Aptos"/>
                <a:cs typeface="Aptos"/>
              </a:defRPr>
            </a:pPr>
            <a:r>
              <a:rPr sz="1425" b="1" i="0">
                <a:solidFill>
                  <a:srgbClr val="2D6F6B"/>
                </a:solidFill>
                <a:latin typeface="Aptos"/>
                <a:ea typeface="Aptos"/>
                <a:cs typeface="Aptos"/>
              </a:rPr>
              <a:t>DECISION PRESSURE</a:t>
            </a:r>
          </a:p>
        </p:txBody>
      </p:sp>
      <p:sp>
        <p:nvSpPr>
          <p:cNvPr id="7" name="stakes-body-0">
            <a:extLst xmlns:a="http://schemas.openxmlformats.org/drawingml/2006/main">
              <a:ext uri="{FF2B5EF4-FFF2-40B4-BE49-F238E27FC236}">
                <a16:creationId xmlns:a16="http://schemas.microsoft.com/office/drawing/2014/main" id="{6C7DF27D-C6AF-4D79-9A61-19FFF8CC40F6}"/>
              </a:ext>
            </a:extLst>
          </p:cNvPr>
          <p:cNvSpPr>
            <a:spLocks xmlns:a="http://schemas.openxmlformats.org/drawingml/2006/main" noGrp="1"/>
          </p:cNvSpPr>
          <p:nvPr/>
        </p:nvSpPr>
        <p:spPr>
          <a:xfrm xmlns:a="http://schemas.openxmlformats.org/drawingml/2006/main">
            <a:off x="6877050" y="2133600"/>
            <a:ext cx="43338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22F"/>
                </a:solidFill>
                <a:latin typeface="Aptos"/>
                <a:ea typeface="Aptos"/>
                <a:cs typeface="Aptos"/>
              </a:defRPr>
            </a:pPr>
            <a:r>
              <a:rPr sz="1875" b="0" i="0">
                <a:solidFill>
                  <a:srgbClr val="17222F"/>
                </a:solidFill>
                <a:latin typeface="Aptos"/>
                <a:ea typeface="Aptos"/>
                <a:cs typeface="Aptos"/>
              </a:rPr>
              <a:t>Choose a response while the conversation keeps moving.</a:t>
            </a:r>
          </a:p>
        </p:txBody>
      </p:sp>
      <p:sp>
        <p:nvSpPr>
          <p:cNvPr id="8" name="stakes-rule-0">
            <a:extLst xmlns:a="http://schemas.openxmlformats.org/drawingml/2006/main">
              <a:ext uri="{FF2B5EF4-FFF2-40B4-BE49-F238E27FC236}">
                <a16:creationId xmlns:a16="http://schemas.microsoft.com/office/drawing/2014/main" id="{49927478-B85C-46BA-B4B1-E93F6D2B4AEC}"/>
              </a:ext>
            </a:extLst>
          </p:cNvPr>
          <p:cNvSpPr>
            <a:spLocks xmlns:a="http://schemas.openxmlformats.org/drawingml/2006/main" noGrp="1"/>
          </p:cNvSpPr>
          <p:nvPr/>
        </p:nvSpPr>
        <p:spPr>
          <a:xfrm xmlns:a="http://schemas.openxmlformats.org/drawingml/2006/main">
            <a:off x="6877050" y="2876550"/>
            <a:ext cx="4333875"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9" name="stakes-label-1">
            <a:extLst xmlns:a="http://schemas.openxmlformats.org/drawingml/2006/main">
              <a:ext uri="{FF2B5EF4-FFF2-40B4-BE49-F238E27FC236}">
                <a16:creationId xmlns:a16="http://schemas.microsoft.com/office/drawing/2014/main" id="{6D91A1F5-675E-4049-88E9-672603F0EE80}"/>
              </a:ext>
            </a:extLst>
          </p:cNvPr>
          <p:cNvSpPr>
            <a:spLocks xmlns:a="http://schemas.openxmlformats.org/drawingml/2006/main" noGrp="1"/>
          </p:cNvSpPr>
          <p:nvPr/>
        </p:nvSpPr>
        <p:spPr>
          <a:xfrm xmlns:a="http://schemas.openxmlformats.org/drawingml/2006/main">
            <a:off x="6877050" y="30670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C57A42"/>
                </a:solidFill>
                <a:latin typeface="Aptos"/>
                <a:ea typeface="Aptos"/>
                <a:cs typeface="Aptos"/>
              </a:defRPr>
            </a:pPr>
            <a:r>
              <a:rPr sz="1425" b="1" i="0">
                <a:solidFill>
                  <a:srgbClr val="C57A42"/>
                </a:solidFill>
                <a:latin typeface="Aptos"/>
                <a:ea typeface="Aptos"/>
                <a:cs typeface="Aptos"/>
              </a:rPr>
              <a:t>RESISTANCE</a:t>
            </a:r>
          </a:p>
        </p:txBody>
      </p:sp>
      <p:sp>
        <p:nvSpPr>
          <p:cNvPr id="10" name="stakes-body-1">
            <a:extLst xmlns:a="http://schemas.openxmlformats.org/drawingml/2006/main">
              <a:ext uri="{FF2B5EF4-FFF2-40B4-BE49-F238E27FC236}">
                <a16:creationId xmlns:a16="http://schemas.microsoft.com/office/drawing/2014/main" id="{7112FD3B-34E0-4DA1-908D-F70D25712A40}"/>
              </a:ext>
            </a:extLst>
          </p:cNvPr>
          <p:cNvSpPr>
            <a:spLocks xmlns:a="http://schemas.openxmlformats.org/drawingml/2006/main" noGrp="1"/>
          </p:cNvSpPr>
          <p:nvPr/>
        </p:nvSpPr>
        <p:spPr>
          <a:xfrm xmlns:a="http://schemas.openxmlformats.org/drawingml/2006/main">
            <a:off x="6877050" y="3390900"/>
            <a:ext cx="43338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22F"/>
                </a:solidFill>
                <a:latin typeface="Aptos"/>
                <a:ea typeface="Aptos"/>
                <a:cs typeface="Aptos"/>
              </a:defRPr>
            </a:pPr>
            <a:r>
              <a:rPr sz="1875" b="0" i="0">
                <a:solidFill>
                  <a:srgbClr val="17222F"/>
                </a:solidFill>
                <a:latin typeface="Aptos"/>
                <a:ea typeface="Aptos"/>
                <a:cs typeface="Aptos"/>
              </a:rPr>
              <a:t>Hear a plausible reason, decide whether to probe, and stay present.</a:t>
            </a:r>
          </a:p>
        </p:txBody>
      </p:sp>
      <p:sp>
        <p:nvSpPr>
          <p:cNvPr id="11" name="stakes-rule-1">
            <a:extLst xmlns:a="http://schemas.openxmlformats.org/drawingml/2006/main">
              <a:ext uri="{FF2B5EF4-FFF2-40B4-BE49-F238E27FC236}">
                <a16:creationId xmlns:a16="http://schemas.microsoft.com/office/drawing/2014/main" id="{66C05318-1922-4A7F-879B-BAD9EE17350F}"/>
              </a:ext>
            </a:extLst>
          </p:cNvPr>
          <p:cNvSpPr>
            <a:spLocks xmlns:a="http://schemas.openxmlformats.org/drawingml/2006/main" noGrp="1"/>
          </p:cNvSpPr>
          <p:nvPr/>
        </p:nvSpPr>
        <p:spPr>
          <a:xfrm xmlns:a="http://schemas.openxmlformats.org/drawingml/2006/main">
            <a:off x="6877050" y="4133850"/>
            <a:ext cx="4333875"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12" name="stakes-label-2">
            <a:extLst xmlns:a="http://schemas.openxmlformats.org/drawingml/2006/main">
              <a:ext uri="{FF2B5EF4-FFF2-40B4-BE49-F238E27FC236}">
                <a16:creationId xmlns:a16="http://schemas.microsoft.com/office/drawing/2014/main" id="{851B761B-F0F6-420F-8FD0-8F2A4339C63E}"/>
              </a:ext>
            </a:extLst>
          </p:cNvPr>
          <p:cNvSpPr>
            <a:spLocks xmlns:a="http://schemas.openxmlformats.org/drawingml/2006/main" noGrp="1"/>
          </p:cNvSpPr>
          <p:nvPr/>
        </p:nvSpPr>
        <p:spPr>
          <a:xfrm xmlns:a="http://schemas.openxmlformats.org/drawingml/2006/main">
            <a:off x="6877050" y="4324350"/>
            <a:ext cx="4000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6F6B"/>
                </a:solidFill>
                <a:latin typeface="Aptos"/>
                <a:ea typeface="Aptos"/>
                <a:cs typeface="Aptos"/>
              </a:defRPr>
            </a:pPr>
            <a:r>
              <a:rPr sz="1425" b="1" i="0">
                <a:solidFill>
                  <a:srgbClr val="2D6F6B"/>
                </a:solidFill>
                <a:latin typeface="Aptos"/>
                <a:ea typeface="Aptos"/>
                <a:cs typeface="Aptos"/>
              </a:rPr>
              <a:t>CONSEQUENCES</a:t>
            </a:r>
          </a:p>
        </p:txBody>
      </p:sp>
      <p:sp>
        <p:nvSpPr>
          <p:cNvPr id="13" name="stakes-body-2">
            <a:extLst xmlns:a="http://schemas.openxmlformats.org/drawingml/2006/main">
              <a:ext uri="{FF2B5EF4-FFF2-40B4-BE49-F238E27FC236}">
                <a16:creationId xmlns:a16="http://schemas.microsoft.com/office/drawing/2014/main" id="{0131ADCE-440E-4298-A467-B857578059BF}"/>
              </a:ext>
            </a:extLst>
          </p:cNvPr>
          <p:cNvSpPr>
            <a:spLocks xmlns:a="http://schemas.openxmlformats.org/drawingml/2006/main" noGrp="1"/>
          </p:cNvSpPr>
          <p:nvPr/>
        </p:nvSpPr>
        <p:spPr>
          <a:xfrm xmlns:a="http://schemas.openxmlformats.org/drawingml/2006/main">
            <a:off x="6877050" y="4648200"/>
            <a:ext cx="43338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22F"/>
                </a:solidFill>
                <a:latin typeface="Aptos"/>
                <a:ea typeface="Aptos"/>
                <a:cs typeface="Aptos"/>
              </a:defRPr>
            </a:pPr>
            <a:r>
              <a:rPr sz="1875" b="0" i="0">
                <a:solidFill>
                  <a:srgbClr val="17222F"/>
                </a:solidFill>
                <a:latin typeface="Aptos"/>
                <a:ea typeface="Aptos"/>
                <a:cs typeface="Aptos"/>
              </a:rPr>
              <a:t>The response changes what the customer is willing to say next.</a:t>
            </a:r>
          </a:p>
        </p:txBody>
      </p:sp>
      <p:sp>
        <p:nvSpPr>
          <p:cNvPr id="14" name="stakes-bottom">
            <a:extLst xmlns:a="http://schemas.openxmlformats.org/drawingml/2006/main">
              <a:ext uri="{FF2B5EF4-FFF2-40B4-BE49-F238E27FC236}">
                <a16:creationId xmlns:a16="http://schemas.microsoft.com/office/drawing/2014/main" id="{4E3CCB97-39C0-4F86-8D3E-5066874F1C85}"/>
              </a:ext>
            </a:extLst>
          </p:cNvPr>
          <p:cNvSpPr>
            <a:spLocks xmlns:a="http://schemas.openxmlformats.org/drawingml/2006/main" noGrp="1"/>
          </p:cNvSpPr>
          <p:nvPr/>
        </p:nvSpPr>
        <p:spPr>
          <a:xfrm xmlns:a="http://schemas.openxmlformats.org/drawingml/2006/main">
            <a:off x="685800" y="5657850"/>
            <a:ext cx="10287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i="0">
                <a:solidFill>
                  <a:srgbClr val="5B6670"/>
                </a:solidFill>
                <a:latin typeface="Aptos"/>
                <a:ea typeface="Aptos"/>
                <a:cs typeface="Aptos"/>
              </a:defRPr>
            </a:pPr>
            <a:r>
              <a:rPr sz="1800" b="0" i="0">
                <a:solidFill>
                  <a:srgbClr val="5B6670"/>
                </a:solidFill>
                <a:latin typeface="Aptos"/>
                <a:ea typeface="Aptos"/>
                <a:cs typeface="Aptos"/>
              </a:rPr>
              <a:t>Reading tips and friendly role-play can help—yet neither automatically reproduces this pressure.</a:t>
            </a:r>
          </a:p>
        </p:txBody>
      </p:sp>
      <p:sp>
        <p:nvSpPr>
          <p:cNvPr id="15" name="slide-2-footer-number">
            <a:extLst xmlns:a="http://schemas.openxmlformats.org/drawingml/2006/main">
              <a:ext uri="{FF2B5EF4-FFF2-40B4-BE49-F238E27FC236}">
                <a16:creationId xmlns:a16="http://schemas.microsoft.com/office/drawing/2014/main" id="{0123B460-4A75-472D-B6BC-7833A45379C3}"/>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02</a:t>
            </a:r>
          </a:p>
        </p:txBody>
      </p:sp>
    </p:spTree>
    <p:extLst>
      <p:ext uri="{BB962C8B-B14F-4D97-AF65-F5344CB8AC3E}">
        <p14:creationId xmlns:p14="http://schemas.microsoft.com/office/powerpoint/2010/main" val="957788361"/>
      </p:ext>
    </p:extLst>
  </p:cSld>
</p:sld>
</file>

<file path=ppt/slides/slide3.xml><?xml version="1.0" encoding="utf-8"?>
<p:sld xmlns:p="http://schemas.openxmlformats.org/presentationml/2006/main">
  <p:cSld>
    <p:bg>
      <p:bgPr>
        <a:solidFill xmlns:a="http://schemas.openxmlformats.org/drawingml/2006/main">
          <a:srgbClr val="162A3C"/>
        </a:solidFill>
      </p:bgPr>
    </p:bg>
    <p:spTree>
      <p:nvGrpSpPr>
        <p:cNvPr id="1" name=""/>
        <p:cNvGrpSpPr/>
        <p:nvPr/>
      </p:nvGrpSpPr>
      <p:grpSpPr>
        <a:xfrm xmlns:a="http://schemas.openxmlformats.org/drawingml/2006/main"/>
      </p:grpSpPr>
      <p:sp>
        <p:nvSpPr>
          <p:cNvPr id="17" name="slide-3-title">
            <a:extLst xmlns:a="http://schemas.openxmlformats.org/drawingml/2006/main">
              <a:ext uri="{FF2B5EF4-FFF2-40B4-BE49-F238E27FC236}">
                <a16:creationId xmlns:a16="http://schemas.microsoft.com/office/drawing/2014/main" id="{58EA4D5C-2465-4218-9A61-781FD7AFE42E}"/>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The learning design combines authentic practice,</a:t>
            </a:r>
          </a:p>
          <a:p xmlns:a="http://schemas.openxmlformats.org/drawingml/2006/main">
            <a:pPr algn="l">
              <a:lnSpc>
                <a:spcPct val="93000"/>
              </a:lnSpc>
              <a:buNone/>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useful feedback, and immediate retry</a:t>
            </a:r>
          </a:p>
        </p:txBody>
      </p:sp>
      <p:sp>
        <p:nvSpPr>
          <p:cNvPr id="2" name="slide-3-top-rule">
            <a:extLst xmlns:a="http://schemas.openxmlformats.org/drawingml/2006/main">
              <a:ext uri="{FF2B5EF4-FFF2-40B4-BE49-F238E27FC236}">
                <a16:creationId xmlns:a16="http://schemas.microsoft.com/office/drawing/2014/main" id="{440B430E-489E-4F5C-9FF5-2F7B417B5556}"/>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C57A42"/>
            </a:solidFill>
            <a:prstDash val="solid"/>
          </a:ln>
        </p:spPr>
      </p:sp>
      <p:sp>
        <p:nvSpPr>
          <p:cNvPr id="3" name="research-name-0">
            <a:extLst xmlns:a="http://schemas.openxmlformats.org/drawingml/2006/main">
              <a:ext uri="{FF2B5EF4-FFF2-40B4-BE49-F238E27FC236}">
                <a16:creationId xmlns:a16="http://schemas.microsoft.com/office/drawing/2014/main" id="{5A1BFC48-8A12-41B4-909E-6D8E0264E697}"/>
              </a:ext>
            </a:extLst>
          </p:cNvPr>
          <p:cNvSpPr>
            <a:spLocks xmlns:a="http://schemas.openxmlformats.org/drawingml/2006/main" noGrp="1"/>
          </p:cNvSpPr>
          <p:nvPr/>
        </p:nvSpPr>
        <p:spPr>
          <a:xfrm xmlns:a="http://schemas.openxmlformats.org/drawingml/2006/main">
            <a:off x="685800" y="1809750"/>
            <a:ext cx="304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DCE8E3"/>
                </a:solidFill>
                <a:latin typeface="Aptos Display"/>
                <a:ea typeface="Aptos Display"/>
                <a:cs typeface="Aptos Display"/>
              </a:defRPr>
            </a:pPr>
            <a:r>
              <a:rPr sz="2175" b="1" i="0">
                <a:solidFill>
                  <a:srgbClr val="DCE8E3"/>
                </a:solidFill>
                <a:latin typeface="Aptos Display"/>
                <a:ea typeface="Aptos Display"/>
                <a:cs typeface="Aptos Display"/>
              </a:rPr>
              <a:t>Ericsson</a:t>
            </a:r>
          </a:p>
        </p:txBody>
      </p:sp>
      <p:sp>
        <p:nvSpPr>
          <p:cNvPr id="4" name="research-principle-0">
            <a:extLst xmlns:a="http://schemas.openxmlformats.org/drawingml/2006/main">
              <a:ext uri="{FF2B5EF4-FFF2-40B4-BE49-F238E27FC236}">
                <a16:creationId xmlns:a16="http://schemas.microsoft.com/office/drawing/2014/main" id="{AB6FF476-E6EC-4457-9252-B8F34C93906F}"/>
              </a:ext>
            </a:extLst>
          </p:cNvPr>
          <p:cNvSpPr>
            <a:spLocks xmlns:a="http://schemas.openxmlformats.org/drawingml/2006/main" noGrp="1"/>
          </p:cNvSpPr>
          <p:nvPr/>
        </p:nvSpPr>
        <p:spPr>
          <a:xfrm xmlns:a="http://schemas.openxmlformats.org/drawingml/2006/main">
            <a:off x="685800" y="2400300"/>
            <a:ext cx="3048000" cy="1524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100" b="1" i="0">
                <a:solidFill>
                  <a:srgbClr val="FFFFFF"/>
                </a:solidFill>
                <a:latin typeface="Aptos"/>
                <a:ea typeface="Aptos"/>
                <a:cs typeface="Aptos"/>
              </a:defRPr>
            </a:pPr>
            <a:r>
              <a:rPr sz="2100" b="1" i="0">
                <a:solidFill>
                  <a:srgbClr val="FFFFFF"/>
                </a:solidFill>
                <a:latin typeface="Aptos"/>
                <a:ea typeface="Aptos"/>
                <a:cs typeface="Aptos"/>
              </a:rPr>
              <a:t>Focus the next Attempt on a specific behavior—and repeat while the moment is fresh.</a:t>
            </a:r>
          </a:p>
        </p:txBody>
      </p:sp>
      <p:sp>
        <p:nvSpPr>
          <p:cNvPr id="5" name="research-product-0">
            <a:extLst xmlns:a="http://schemas.openxmlformats.org/drawingml/2006/main">
              <a:ext uri="{FF2B5EF4-FFF2-40B4-BE49-F238E27FC236}">
                <a16:creationId xmlns:a16="http://schemas.microsoft.com/office/drawing/2014/main" id="{239B7735-CAFE-4EE5-9602-C5F753838B56}"/>
              </a:ext>
            </a:extLst>
          </p:cNvPr>
          <p:cNvSpPr>
            <a:spLocks xmlns:a="http://schemas.openxmlformats.org/drawingml/2006/main" noGrp="1"/>
          </p:cNvSpPr>
          <p:nvPr/>
        </p:nvSpPr>
        <p:spPr>
          <a:xfrm xmlns:a="http://schemas.openxmlformats.org/drawingml/2006/main">
            <a:off x="685800" y="4171950"/>
            <a:ext cx="2952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C7D3DB"/>
                </a:solidFill>
                <a:latin typeface="Aptos"/>
                <a:ea typeface="Aptos"/>
                <a:cs typeface="Aptos"/>
              </a:defRPr>
            </a:pPr>
            <a:r>
              <a:rPr sz="1425" b="0" i="0">
                <a:solidFill>
                  <a:srgbClr val="C7D3DB"/>
                </a:solidFill>
                <a:latin typeface="Aptos"/>
                <a:ea typeface="Aptos"/>
                <a:cs typeface="Aptos"/>
              </a:rPr>
              <a:t>Scenario  ·  Assessment/Feedback  ·  immediate retry</a:t>
            </a:r>
          </a:p>
        </p:txBody>
      </p:sp>
      <p:sp>
        <p:nvSpPr>
          <p:cNvPr id="6" name="research-divider-1">
            <a:extLst xmlns:a="http://schemas.openxmlformats.org/drawingml/2006/main">
              <a:ext uri="{FF2B5EF4-FFF2-40B4-BE49-F238E27FC236}">
                <a16:creationId xmlns:a16="http://schemas.microsoft.com/office/drawing/2014/main" id="{EBE2EE98-7161-4214-BEF3-91015BC77D42}"/>
              </a:ext>
            </a:extLst>
          </p:cNvPr>
          <p:cNvSpPr>
            <a:spLocks xmlns:a="http://schemas.openxmlformats.org/drawingml/2006/main" noGrp="1"/>
          </p:cNvSpPr>
          <p:nvPr/>
        </p:nvSpPr>
        <p:spPr>
          <a:xfrm xmlns:a="http://schemas.openxmlformats.org/drawingml/2006/main">
            <a:off x="3867150" y="1809750"/>
            <a:ext cx="0" cy="312420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526271"/>
            </a:solidFill>
            <a:prstDash val="solid"/>
          </a:ln>
        </p:spPr>
      </p:sp>
      <p:sp>
        <p:nvSpPr>
          <p:cNvPr id="7" name="research-name-1">
            <a:extLst xmlns:a="http://schemas.openxmlformats.org/drawingml/2006/main">
              <a:ext uri="{FF2B5EF4-FFF2-40B4-BE49-F238E27FC236}">
                <a16:creationId xmlns:a16="http://schemas.microsoft.com/office/drawing/2014/main" id="{CB6288C0-2F9D-451C-9CAE-D3822F9A6482}"/>
              </a:ext>
            </a:extLst>
          </p:cNvPr>
          <p:cNvSpPr>
            <a:spLocks xmlns:a="http://schemas.openxmlformats.org/drawingml/2006/main" noGrp="1"/>
          </p:cNvSpPr>
          <p:nvPr/>
        </p:nvSpPr>
        <p:spPr>
          <a:xfrm xmlns:a="http://schemas.openxmlformats.org/drawingml/2006/main">
            <a:off x="4133850" y="1809750"/>
            <a:ext cx="304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F1DDCB"/>
                </a:solidFill>
                <a:latin typeface="Aptos Display"/>
                <a:ea typeface="Aptos Display"/>
                <a:cs typeface="Aptos Display"/>
              </a:defRPr>
            </a:pPr>
            <a:r>
              <a:rPr sz="2175" b="1" i="0">
                <a:solidFill>
                  <a:srgbClr val="F1DDCB"/>
                </a:solidFill>
                <a:latin typeface="Aptos Display"/>
                <a:ea typeface="Aptos Display"/>
                <a:cs typeface="Aptos Display"/>
              </a:rPr>
              <a:t>Merrill</a:t>
            </a:r>
          </a:p>
        </p:txBody>
      </p:sp>
      <p:sp>
        <p:nvSpPr>
          <p:cNvPr id="8" name="research-principle-1">
            <a:extLst xmlns:a="http://schemas.openxmlformats.org/drawingml/2006/main">
              <a:ext uri="{FF2B5EF4-FFF2-40B4-BE49-F238E27FC236}">
                <a16:creationId xmlns:a16="http://schemas.microsoft.com/office/drawing/2014/main" id="{C8A036F4-8CAE-4AD5-8D0D-AE2B3AD423F3}"/>
              </a:ext>
            </a:extLst>
          </p:cNvPr>
          <p:cNvSpPr>
            <a:spLocks xmlns:a="http://schemas.openxmlformats.org/drawingml/2006/main" noGrp="1"/>
          </p:cNvSpPr>
          <p:nvPr/>
        </p:nvSpPr>
        <p:spPr>
          <a:xfrm xmlns:a="http://schemas.openxmlformats.org/drawingml/2006/main">
            <a:off x="4133850" y="2400300"/>
            <a:ext cx="3048000" cy="1524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100" b="1" i="0">
                <a:solidFill>
                  <a:srgbClr val="FFFFFF"/>
                </a:solidFill>
                <a:latin typeface="Aptos"/>
                <a:ea typeface="Aptos"/>
                <a:cs typeface="Aptos"/>
              </a:defRPr>
            </a:pPr>
            <a:r>
              <a:rPr sz="2100" b="1" i="0">
                <a:solidFill>
                  <a:srgbClr val="FFFFFF"/>
                </a:solidFill>
                <a:latin typeface="Aptos"/>
                <a:ea typeface="Aptos"/>
                <a:cs typeface="Aptos"/>
              </a:rPr>
              <a:t>Practise the whole real-world task, apply coaching, and integrate what changed.</a:t>
            </a:r>
          </a:p>
        </p:txBody>
      </p:sp>
      <p:sp>
        <p:nvSpPr>
          <p:cNvPr id="9" name="research-product-1">
            <a:extLst xmlns:a="http://schemas.openxmlformats.org/drawingml/2006/main">
              <a:ext uri="{FF2B5EF4-FFF2-40B4-BE49-F238E27FC236}">
                <a16:creationId xmlns:a16="http://schemas.microsoft.com/office/drawing/2014/main" id="{568503C3-7684-411E-8DC5-CD00DC4716D2}"/>
              </a:ext>
            </a:extLst>
          </p:cNvPr>
          <p:cNvSpPr>
            <a:spLocks xmlns:a="http://schemas.openxmlformats.org/drawingml/2006/main" noGrp="1"/>
          </p:cNvSpPr>
          <p:nvPr/>
        </p:nvSpPr>
        <p:spPr>
          <a:xfrm xmlns:a="http://schemas.openxmlformats.org/drawingml/2006/main">
            <a:off x="4133850" y="4171950"/>
            <a:ext cx="2952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C7D3DB"/>
                </a:solidFill>
                <a:latin typeface="Aptos"/>
                <a:ea typeface="Aptos"/>
                <a:cs typeface="Aptos"/>
              </a:defRPr>
            </a:pPr>
            <a:r>
              <a:rPr sz="1425" b="0" i="0">
                <a:solidFill>
                  <a:srgbClr val="C7D3DB"/>
                </a:solidFill>
                <a:latin typeface="Aptos"/>
                <a:ea typeface="Aptos"/>
                <a:cs typeface="Aptos"/>
              </a:rPr>
              <a:t>spoken Scenario  ·  corrective coaching  ·  visible improvement</a:t>
            </a:r>
          </a:p>
        </p:txBody>
      </p:sp>
      <p:sp>
        <p:nvSpPr>
          <p:cNvPr id="10" name="research-divider-2">
            <a:extLst xmlns:a="http://schemas.openxmlformats.org/drawingml/2006/main">
              <a:ext uri="{FF2B5EF4-FFF2-40B4-BE49-F238E27FC236}">
                <a16:creationId xmlns:a16="http://schemas.microsoft.com/office/drawing/2014/main" id="{0C821D4B-4BEC-4FF7-82F0-2DDB339F3EBB}"/>
              </a:ext>
            </a:extLst>
          </p:cNvPr>
          <p:cNvSpPr>
            <a:spLocks xmlns:a="http://schemas.openxmlformats.org/drawingml/2006/main" noGrp="1"/>
          </p:cNvSpPr>
          <p:nvPr/>
        </p:nvSpPr>
        <p:spPr>
          <a:xfrm xmlns:a="http://schemas.openxmlformats.org/drawingml/2006/main">
            <a:off x="7315200" y="1809750"/>
            <a:ext cx="0" cy="312420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526271"/>
            </a:solidFill>
            <a:prstDash val="solid"/>
          </a:ln>
        </p:spPr>
      </p:sp>
      <p:sp>
        <p:nvSpPr>
          <p:cNvPr id="11" name="research-name-2">
            <a:extLst xmlns:a="http://schemas.openxmlformats.org/drawingml/2006/main">
              <a:ext uri="{FF2B5EF4-FFF2-40B4-BE49-F238E27FC236}">
                <a16:creationId xmlns:a16="http://schemas.microsoft.com/office/drawing/2014/main" id="{9F86BC4C-8ED1-45D2-8D6C-11A24EC9AA7E}"/>
              </a:ext>
            </a:extLst>
          </p:cNvPr>
          <p:cNvSpPr>
            <a:spLocks xmlns:a="http://schemas.openxmlformats.org/drawingml/2006/main" noGrp="1"/>
          </p:cNvSpPr>
          <p:nvPr/>
        </p:nvSpPr>
        <p:spPr>
          <a:xfrm xmlns:a="http://schemas.openxmlformats.org/drawingml/2006/main">
            <a:off x="7581900" y="1809750"/>
            <a:ext cx="304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DCE8E3"/>
                </a:solidFill>
                <a:latin typeface="Aptos Display"/>
                <a:ea typeface="Aptos Display"/>
                <a:cs typeface="Aptos Display"/>
              </a:defRPr>
            </a:pPr>
            <a:r>
              <a:rPr sz="2175" b="1" i="0">
                <a:solidFill>
                  <a:srgbClr val="DCE8E3"/>
                </a:solidFill>
                <a:latin typeface="Aptos Display"/>
                <a:ea typeface="Aptos Display"/>
                <a:cs typeface="Aptos Display"/>
              </a:rPr>
              <a:t>Hattie–Timperley</a:t>
            </a:r>
          </a:p>
        </p:txBody>
      </p:sp>
      <p:sp>
        <p:nvSpPr>
          <p:cNvPr id="12" name="research-principle-2">
            <a:extLst xmlns:a="http://schemas.openxmlformats.org/drawingml/2006/main">
              <a:ext uri="{FF2B5EF4-FFF2-40B4-BE49-F238E27FC236}">
                <a16:creationId xmlns:a16="http://schemas.microsoft.com/office/drawing/2014/main" id="{6BD7A561-4609-4F8D-8174-FF16FFB4D1DF}"/>
              </a:ext>
            </a:extLst>
          </p:cNvPr>
          <p:cNvSpPr>
            <a:spLocks xmlns:a="http://schemas.openxmlformats.org/drawingml/2006/main" noGrp="1"/>
          </p:cNvSpPr>
          <p:nvPr/>
        </p:nvSpPr>
        <p:spPr>
          <a:xfrm xmlns:a="http://schemas.openxmlformats.org/drawingml/2006/main">
            <a:off x="7581900" y="2400300"/>
            <a:ext cx="3048000" cy="1524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100" b="1" i="0">
                <a:solidFill>
                  <a:srgbClr val="FFFFFF"/>
                </a:solidFill>
                <a:latin typeface="Aptos"/>
                <a:ea typeface="Aptos"/>
                <a:cs typeface="Aptos"/>
              </a:defRPr>
            </a:pPr>
            <a:r>
              <a:rPr sz="2100" b="1" i="0">
                <a:solidFill>
                  <a:srgbClr val="FFFFFF"/>
                </a:solidFill>
                <a:latin typeface="Aptos"/>
                <a:ea typeface="Aptos"/>
                <a:cs typeface="Aptos"/>
              </a:rPr>
              <a:t>Make the standard, current performance, and next move explicit.</a:t>
            </a:r>
          </a:p>
        </p:txBody>
      </p:sp>
      <p:sp>
        <p:nvSpPr>
          <p:cNvPr id="13" name="research-product-2">
            <a:extLst xmlns:a="http://schemas.openxmlformats.org/drawingml/2006/main">
              <a:ext uri="{FF2B5EF4-FFF2-40B4-BE49-F238E27FC236}">
                <a16:creationId xmlns:a16="http://schemas.microsoft.com/office/drawing/2014/main" id="{C9DF9946-B9D0-46E7-A4A9-80BB6445A3DF}"/>
              </a:ext>
            </a:extLst>
          </p:cNvPr>
          <p:cNvSpPr>
            <a:spLocks xmlns:a="http://schemas.openxmlformats.org/drawingml/2006/main" noGrp="1"/>
          </p:cNvSpPr>
          <p:nvPr/>
        </p:nvSpPr>
        <p:spPr>
          <a:xfrm xmlns:a="http://schemas.openxmlformats.org/drawingml/2006/main">
            <a:off x="7581900" y="4171950"/>
            <a:ext cx="2952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i="0">
                <a:solidFill>
                  <a:srgbClr val="C7D3DB"/>
                </a:solidFill>
                <a:latin typeface="Aptos"/>
                <a:ea typeface="Aptos"/>
                <a:cs typeface="Aptos"/>
              </a:defRPr>
            </a:pPr>
            <a:r>
              <a:rPr sz="1425" b="0" i="0">
                <a:solidFill>
                  <a:srgbClr val="C7D3DB"/>
                </a:solidFill>
                <a:latin typeface="Aptos"/>
                <a:ea typeface="Aptos"/>
                <a:cs typeface="Aptos"/>
              </a:rPr>
              <a:t>fixed Rubric  ·  exact evidence  ·  specific next move</a:t>
            </a:r>
          </a:p>
        </p:txBody>
      </p:sp>
      <p:sp>
        <p:nvSpPr>
          <p:cNvPr id="14" name="research-bottom-rule">
            <a:extLst xmlns:a="http://schemas.openxmlformats.org/drawingml/2006/main">
              <a:ext uri="{FF2B5EF4-FFF2-40B4-BE49-F238E27FC236}">
                <a16:creationId xmlns:a16="http://schemas.microsoft.com/office/drawing/2014/main" id="{61DCEA2D-B3CD-4807-A77A-13CF0379620F}"/>
              </a:ext>
            </a:extLst>
          </p:cNvPr>
          <p:cNvSpPr>
            <a:spLocks xmlns:a="http://schemas.openxmlformats.org/drawingml/2006/main" noGrp="1"/>
          </p:cNvSpPr>
          <p:nvPr/>
        </p:nvSpPr>
        <p:spPr>
          <a:xfrm xmlns:a="http://schemas.openxmlformats.org/drawingml/2006/main">
            <a:off x="685800" y="5276850"/>
            <a:ext cx="10820400"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526271"/>
            </a:solidFill>
            <a:prstDash val="solid"/>
          </a:ln>
        </p:spPr>
      </p:sp>
      <p:sp>
        <p:nvSpPr>
          <p:cNvPr id="15" name="research-claim">
            <a:extLst xmlns:a="http://schemas.openxmlformats.org/drawingml/2006/main">
              <a:ext uri="{FF2B5EF4-FFF2-40B4-BE49-F238E27FC236}">
                <a16:creationId xmlns:a16="http://schemas.microsoft.com/office/drawing/2014/main" id="{F30BAC6D-0456-4A9E-9A74-6FF35F2A7BC5}"/>
              </a:ext>
            </a:extLst>
          </p:cNvPr>
          <p:cNvSpPr>
            <a:spLocks xmlns:a="http://schemas.openxmlformats.org/drawingml/2006/main" noGrp="1"/>
          </p:cNvSpPr>
          <p:nvPr/>
        </p:nvSpPr>
        <p:spPr>
          <a:xfrm xmlns:a="http://schemas.openxmlformats.org/drawingml/2006/main">
            <a:off x="685800" y="5467350"/>
            <a:ext cx="10477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i="0">
                <a:solidFill>
                  <a:srgbClr val="FFFFFF"/>
                </a:solidFill>
                <a:latin typeface="Aptos"/>
                <a:ea typeface="Aptos"/>
                <a:cs typeface="Aptos"/>
              </a:defRPr>
            </a:pPr>
            <a:r>
              <a:rPr sz="1875" b="1">
                <a:solidFill>
                  <a:srgbClr val="FFFFFF"/>
                </a:solidFill>
                <a:latin typeface="Aptos"/>
                <a:ea typeface="Aptos"/>
                <a:cs typeface="Aptos"/>
              </a:rPr>
              <a:t>Grounded in these principles—</a:t>
            </a:r>
            <a:r>
              <a:rPr sz="1875">
                <a:solidFill>
                  <a:srgbClr val="FFFFFF"/>
                </a:solidFill>
                <a:latin typeface="Aptos"/>
                <a:ea typeface="Aptos"/>
                <a:cs typeface="Aptos"/>
              </a:rPr>
              <a:t>not presented as proof that the prototype works at organizational scale.</a:t>
            </a:r>
          </a:p>
        </p:txBody>
      </p:sp>
      <p:sp>
        <p:nvSpPr>
          <p:cNvPr id="16" name="slide-3-footer-number">
            <a:extLst xmlns:a="http://schemas.openxmlformats.org/drawingml/2006/main">
              <a:ext uri="{FF2B5EF4-FFF2-40B4-BE49-F238E27FC236}">
                <a16:creationId xmlns:a16="http://schemas.microsoft.com/office/drawing/2014/main" id="{EB3FF736-007C-40BF-9CCD-3FD63B7E8323}"/>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A8B7C1"/>
                </a:solidFill>
                <a:latin typeface="Aptos"/>
                <a:ea typeface="Aptos"/>
                <a:cs typeface="Aptos"/>
              </a:defRPr>
            </a:pPr>
            <a:r>
              <a:rPr sz="1200" b="1" i="0">
                <a:solidFill>
                  <a:srgbClr val="A8B7C1"/>
                </a:solidFill>
                <a:latin typeface="Aptos"/>
                <a:ea typeface="Aptos"/>
                <a:cs typeface="Aptos"/>
              </a:rPr>
              <a:t>03</a:t>
            </a:r>
          </a:p>
        </p:txBody>
      </p:sp>
    </p:spTree>
    <p:extLst>
      <p:ext uri="{BB962C8B-B14F-4D97-AF65-F5344CB8AC3E}">
        <p14:creationId xmlns:p14="http://schemas.microsoft.com/office/powerpoint/2010/main" val="87466914"/>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35" name="slide-4-title">
            <a:extLst xmlns:a="http://schemas.openxmlformats.org/drawingml/2006/main">
              <a:ext uri="{FF2B5EF4-FFF2-40B4-BE49-F238E27FC236}">
                <a16:creationId xmlns:a16="http://schemas.microsoft.com/office/drawing/2014/main" id="{AA57AFA7-F89D-4416-9C52-9D428C22A520}"/>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75" b="1" i="0">
                <a:solidFill>
                  <a:srgbClr val="17222F"/>
                </a:solidFill>
                <a:latin typeface="Aptos Display"/>
                <a:ea typeface="Aptos Display"/>
                <a:cs typeface="Aptos Display"/>
              </a:defRPr>
            </a:pPr>
            <a:r>
              <a:rPr sz="3675" b="1" i="0">
                <a:solidFill>
                  <a:srgbClr val="17222F"/>
                </a:solidFill>
                <a:latin typeface="Aptos Display"/>
                <a:ea typeface="Aptos Display"/>
                <a:cs typeface="Aptos Display"/>
              </a:rPr>
              <a:t>One observable skill shapes the entire Scenario</a:t>
            </a:r>
          </a:p>
        </p:txBody>
      </p:sp>
      <p:sp>
        <p:nvSpPr>
          <p:cNvPr id="2" name="slide-4-top-rule">
            <a:extLst xmlns:a="http://schemas.openxmlformats.org/drawingml/2006/main">
              <a:ext uri="{FF2B5EF4-FFF2-40B4-BE49-F238E27FC236}">
                <a16:creationId xmlns:a16="http://schemas.microsoft.com/office/drawing/2014/main" id="{AEE52F5A-C1D5-4E86-B72B-31F38072F57F}"/>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scenario-skill">
            <a:extLst xmlns:a="http://schemas.openxmlformats.org/drawingml/2006/main">
              <a:ext uri="{FF2B5EF4-FFF2-40B4-BE49-F238E27FC236}">
                <a16:creationId xmlns:a16="http://schemas.microsoft.com/office/drawing/2014/main" id="{5C8F86E8-DB75-48A5-9F7F-38554CB119A7}"/>
              </a:ext>
            </a:extLst>
          </p:cNvPr>
          <p:cNvSpPr>
            <a:spLocks xmlns:a="http://schemas.openxmlformats.org/drawingml/2006/main" noGrp="1"/>
          </p:cNvSpPr>
          <p:nvPr/>
        </p:nvSpPr>
        <p:spPr>
          <a:xfrm xmlns:a="http://schemas.openxmlformats.org/drawingml/2006/main">
            <a:off x="685800" y="120015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2D6F6B"/>
                </a:solidFill>
                <a:latin typeface="Aptos Display"/>
                <a:ea typeface="Aptos Display"/>
                <a:cs typeface="Aptos Display"/>
              </a:defRPr>
            </a:pPr>
            <a:r>
              <a:rPr sz="2325" b="1" i="0">
                <a:solidFill>
                  <a:srgbClr val="2D6F6B"/>
                </a:solidFill>
                <a:latin typeface="Aptos Display"/>
                <a:ea typeface="Aptos Display"/>
                <a:cs typeface="Aptos Display"/>
              </a:rPr>
              <a:t>Listen for the real experience before trying to solve it.</a:t>
            </a:r>
          </a:p>
        </p:txBody>
      </p:sp>
      <p:sp>
        <p:nvSpPr>
          <p:cNvPr id="4" name="scenario-name">
            <a:extLst xmlns:a="http://schemas.openxmlformats.org/drawingml/2006/main">
              <a:ext uri="{FF2B5EF4-FFF2-40B4-BE49-F238E27FC236}">
                <a16:creationId xmlns:a16="http://schemas.microsoft.com/office/drawing/2014/main" id="{26A229BE-A370-4878-B385-0F066B9A1CCB}"/>
              </a:ext>
            </a:extLst>
          </p:cNvPr>
          <p:cNvSpPr>
            <a:spLocks xmlns:a="http://schemas.openxmlformats.org/drawingml/2006/main" noGrp="1"/>
          </p:cNvSpPr>
          <p:nvPr/>
        </p:nvSpPr>
        <p:spPr>
          <a:xfrm xmlns:a="http://schemas.openxmlformats.org/drawingml/2006/main">
            <a:off x="8096250" y="1295400"/>
            <a:ext cx="342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81442"/>
          </a:bodyPr>
          <a:lstStyle xmlns:a="http://schemas.openxmlformats.org/drawingml/2006/main"/>
          <a:p xmlns:a="http://schemas.openxmlformats.org/drawingml/2006/main">
            <a:pPr algn="r">
              <a:lnSpc>
                <a:spcPct val="100000"/>
              </a:lnSpc>
              <a:buNone/>
              <a:defRPr sz="1350" b="1" i="0">
                <a:solidFill>
                  <a:srgbClr val="5B6670"/>
                </a:solidFill>
                <a:latin typeface="Aptos"/>
                <a:ea typeface="Aptos"/>
                <a:cs typeface="Aptos"/>
              </a:defRPr>
            </a:pPr>
            <a:r>
              <a:rPr sz="1350" b="1" i="0">
                <a:solidFill>
                  <a:srgbClr val="5B6670"/>
                </a:solidFill>
                <a:latin typeface="Aptos"/>
                <a:ea typeface="Aptos"/>
                <a:cs typeface="Aptos"/>
              </a:rPr>
              <a:t>THE CUSTOMER WHO’S HAD ENOUGH  ·  JORDAN AVERY</a:t>
            </a:r>
          </a:p>
        </p:txBody>
      </p:sp>
      <p:sp>
        <p:nvSpPr>
          <p:cNvPr id="5" name="scenario-sequence-line">
            <a:extLst xmlns:a="http://schemas.openxmlformats.org/drawingml/2006/main">
              <a:ext uri="{FF2B5EF4-FFF2-40B4-BE49-F238E27FC236}">
                <a16:creationId xmlns:a16="http://schemas.microsoft.com/office/drawing/2014/main" id="{EA38D0F3-0A63-4445-A9F6-14BE6130806E}"/>
              </a:ext>
            </a:extLst>
          </p:cNvPr>
          <p:cNvSpPr>
            <a:spLocks xmlns:a="http://schemas.openxmlformats.org/drawingml/2006/main" noGrp="1"/>
          </p:cNvSpPr>
          <p:nvPr/>
        </p:nvSpPr>
        <p:spPr>
          <a:xfrm xmlns:a="http://schemas.openxmlformats.org/drawingml/2006/main">
            <a:off x="914400" y="2990850"/>
            <a:ext cx="10001250" cy="0"/>
          </a:xfrm>
          <a:prstGeom xmlns:a="http://schemas.openxmlformats.org/drawingml/2006/main" prst="line">
            <a:avLst/>
          </a:prstGeom>
          <a:solidFill xmlns:a="http://schemas.openxmlformats.org/drawingml/2006/main">
            <a:srgbClr val="000000">
              <a:alpha val="0"/>
            </a:srgbClr>
          </a:solidFill>
          <a:ln xmlns:a="http://schemas.openxmlformats.org/drawingml/2006/main" w="47625">
            <a:solidFill>
              <a:srgbClr val="7FA6A0"/>
            </a:solidFill>
            <a:prstDash val="solid"/>
          </a:ln>
        </p:spPr>
      </p:sp>
      <p:sp>
        <p:nvSpPr>
          <p:cNvPr id="6" name="scenario-node-0">
            <a:extLst xmlns:a="http://schemas.openxmlformats.org/drawingml/2006/main">
              <a:ext uri="{FF2B5EF4-FFF2-40B4-BE49-F238E27FC236}">
                <a16:creationId xmlns:a16="http://schemas.microsoft.com/office/drawing/2014/main" id="{C1B67E32-E392-4BD6-B02F-D7B54E7B14C3}"/>
              </a:ext>
            </a:extLst>
          </p:cNvPr>
          <p:cNvSpPr>
            <a:spLocks xmlns:a="http://schemas.openxmlformats.org/drawingml/2006/main" noGrp="1"/>
          </p:cNvSpPr>
          <p:nvPr/>
        </p:nvSpPr>
        <p:spPr>
          <a:xfrm xmlns:a="http://schemas.openxmlformats.org/drawingml/2006/main">
            <a:off x="790575" y="2867025"/>
            <a:ext cx="247650" cy="247650"/>
          </a:xfrm>
          <a:prstGeom xmlns:a="http://schemas.openxmlformats.org/drawingml/2006/main" prst="roundRect">
            <a:avLst>
              <a:gd name="adj" fmla="val 50000"/>
            </a:avLst>
          </a:prstGeom>
          <a:solidFill xmlns:a="http://schemas.openxmlformats.org/drawingml/2006/main">
            <a:srgbClr val="F6F1E8"/>
          </a:solidFill>
          <a:ln xmlns:a="http://schemas.openxmlformats.org/drawingml/2006/main" w="9525">
            <a:solidFill>
              <a:srgbClr val="2D6F6B"/>
            </a:solidFill>
            <a:prstDash val="solid"/>
          </a:ln>
        </p:spPr>
      </p:sp>
      <p:sp>
        <p:nvSpPr>
          <p:cNvPr id="7" name="scenario-number-0">
            <a:extLst xmlns:a="http://schemas.openxmlformats.org/drawingml/2006/main">
              <a:ext uri="{FF2B5EF4-FFF2-40B4-BE49-F238E27FC236}">
                <a16:creationId xmlns:a16="http://schemas.microsoft.com/office/drawing/2014/main" id="{9D37DFFD-0EBF-4B94-807F-954403EC856C}"/>
              </a:ext>
            </a:extLst>
          </p:cNvPr>
          <p:cNvSpPr>
            <a:spLocks xmlns:a="http://schemas.openxmlformats.org/drawingml/2006/main" noGrp="1"/>
          </p:cNvSpPr>
          <p:nvPr/>
        </p:nvSpPr>
        <p:spPr>
          <a:xfrm xmlns:a="http://schemas.openxmlformats.org/drawingml/2006/main">
            <a:off x="7239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01</a:t>
            </a:r>
          </a:p>
        </p:txBody>
      </p:sp>
      <p:sp>
        <p:nvSpPr>
          <p:cNvPr id="8" name="scenario-step-0">
            <a:extLst xmlns:a="http://schemas.openxmlformats.org/drawingml/2006/main">
              <a:ext uri="{FF2B5EF4-FFF2-40B4-BE49-F238E27FC236}">
                <a16:creationId xmlns:a16="http://schemas.microsoft.com/office/drawing/2014/main" id="{5682FC7E-28B9-41B6-8EEC-DE12BF7F1843}"/>
              </a:ext>
            </a:extLst>
          </p:cNvPr>
          <p:cNvSpPr>
            <a:spLocks xmlns:a="http://schemas.openxmlformats.org/drawingml/2006/main" noGrp="1"/>
          </p:cNvSpPr>
          <p:nvPr/>
        </p:nvSpPr>
        <p:spPr>
          <a:xfrm xmlns:a="http://schemas.openxmlformats.org/drawingml/2006/main">
            <a:off x="2095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Public position</a:t>
            </a:r>
          </a:p>
        </p:txBody>
      </p:sp>
      <p:sp>
        <p:nvSpPr>
          <p:cNvPr id="9" name="scenario-quote-0">
            <a:extLst xmlns:a="http://schemas.openxmlformats.org/drawingml/2006/main">
              <a:ext uri="{FF2B5EF4-FFF2-40B4-BE49-F238E27FC236}">
                <a16:creationId xmlns:a16="http://schemas.microsoft.com/office/drawing/2014/main" id="{847181A3-4D3C-4F0B-B261-F04D788CECBB}"/>
              </a:ext>
            </a:extLst>
          </p:cNvPr>
          <p:cNvSpPr>
            <a:spLocks xmlns:a="http://schemas.openxmlformats.org/drawingml/2006/main" noGrp="1"/>
          </p:cNvSpPr>
          <p:nvPr/>
        </p:nvSpPr>
        <p:spPr>
          <a:xfrm xmlns:a="http://schemas.openxmlformats.org/drawingml/2006/main">
            <a:off x="1524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“I’d like to close my account.”</a:t>
            </a:r>
          </a:p>
        </p:txBody>
      </p:sp>
      <p:sp>
        <p:nvSpPr>
          <p:cNvPr id="10" name="scenario-node-1">
            <a:extLst xmlns:a="http://schemas.openxmlformats.org/drawingml/2006/main">
              <a:ext uri="{FF2B5EF4-FFF2-40B4-BE49-F238E27FC236}">
                <a16:creationId xmlns:a16="http://schemas.microsoft.com/office/drawing/2014/main" id="{3B57A99F-523B-418C-A2FE-DE62A83E630D}"/>
              </a:ext>
            </a:extLst>
          </p:cNvPr>
          <p:cNvSpPr>
            <a:spLocks xmlns:a="http://schemas.openxmlformats.org/drawingml/2006/main" noGrp="1"/>
          </p:cNvSpPr>
          <p:nvPr/>
        </p:nvSpPr>
        <p:spPr>
          <a:xfrm xmlns:a="http://schemas.openxmlformats.org/drawingml/2006/main">
            <a:off x="2657475" y="2867025"/>
            <a:ext cx="247650" cy="247650"/>
          </a:xfrm>
          <a:prstGeom xmlns:a="http://schemas.openxmlformats.org/drawingml/2006/main" prst="roundRect">
            <a:avLst>
              <a:gd name="adj" fmla="val 50000"/>
            </a:avLst>
          </a:prstGeom>
          <a:solidFill xmlns:a="http://schemas.openxmlformats.org/drawingml/2006/main">
            <a:srgbClr val="F6F1E8"/>
          </a:solidFill>
          <a:ln xmlns:a="http://schemas.openxmlformats.org/drawingml/2006/main" w="9525">
            <a:solidFill>
              <a:srgbClr val="2D6F6B"/>
            </a:solidFill>
            <a:prstDash val="solid"/>
          </a:ln>
        </p:spPr>
      </p:sp>
      <p:sp>
        <p:nvSpPr>
          <p:cNvPr id="11" name="scenario-number-1">
            <a:extLst xmlns:a="http://schemas.openxmlformats.org/drawingml/2006/main">
              <a:ext uri="{FF2B5EF4-FFF2-40B4-BE49-F238E27FC236}">
                <a16:creationId xmlns:a16="http://schemas.microsoft.com/office/drawing/2014/main" id="{9F914DA5-154C-459D-8B5A-5CF4836D22EF}"/>
              </a:ext>
            </a:extLst>
          </p:cNvPr>
          <p:cNvSpPr>
            <a:spLocks xmlns:a="http://schemas.openxmlformats.org/drawingml/2006/main" noGrp="1"/>
          </p:cNvSpPr>
          <p:nvPr/>
        </p:nvSpPr>
        <p:spPr>
          <a:xfrm xmlns:a="http://schemas.openxmlformats.org/drawingml/2006/main">
            <a:off x="25908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02</a:t>
            </a:r>
          </a:p>
        </p:txBody>
      </p:sp>
      <p:sp>
        <p:nvSpPr>
          <p:cNvPr id="12" name="scenario-step-1">
            <a:extLst xmlns:a="http://schemas.openxmlformats.org/drawingml/2006/main">
              <a:ext uri="{FF2B5EF4-FFF2-40B4-BE49-F238E27FC236}">
                <a16:creationId xmlns:a16="http://schemas.microsoft.com/office/drawing/2014/main" id="{B2C0D5F6-6BE4-43A6-9CB6-6647004FAF2A}"/>
              </a:ext>
            </a:extLst>
          </p:cNvPr>
          <p:cNvSpPr>
            <a:spLocks xmlns:a="http://schemas.openxmlformats.org/drawingml/2006/main" noGrp="1"/>
          </p:cNvSpPr>
          <p:nvPr/>
        </p:nvSpPr>
        <p:spPr>
          <a:xfrm xmlns:a="http://schemas.openxmlformats.org/drawingml/2006/main">
            <a:off x="20764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Cover story</a:t>
            </a:r>
          </a:p>
        </p:txBody>
      </p:sp>
      <p:sp>
        <p:nvSpPr>
          <p:cNvPr id="13" name="scenario-quote-1">
            <a:extLst xmlns:a="http://schemas.openxmlformats.org/drawingml/2006/main">
              <a:ext uri="{FF2B5EF4-FFF2-40B4-BE49-F238E27FC236}">
                <a16:creationId xmlns:a16="http://schemas.microsoft.com/office/drawing/2014/main" id="{BFCAF78E-C3A7-4A7B-889F-587C01F57776}"/>
              </a:ext>
            </a:extLst>
          </p:cNvPr>
          <p:cNvSpPr>
            <a:spLocks xmlns:a="http://schemas.openxmlformats.org/drawingml/2006/main" noGrp="1"/>
          </p:cNvSpPr>
          <p:nvPr/>
        </p:nvSpPr>
        <p:spPr>
          <a:xfrm xmlns:a="http://schemas.openxmlformats.org/drawingml/2006/main">
            <a:off x="20193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Fees are high; somewhere else is cheaper.</a:t>
            </a:r>
          </a:p>
        </p:txBody>
      </p:sp>
      <p:sp>
        <p:nvSpPr>
          <p:cNvPr id="14" name="scenario-node-2">
            <a:extLst xmlns:a="http://schemas.openxmlformats.org/drawingml/2006/main">
              <a:ext uri="{FF2B5EF4-FFF2-40B4-BE49-F238E27FC236}">
                <a16:creationId xmlns:a16="http://schemas.microsoft.com/office/drawing/2014/main" id="{DF4EDBD7-D5DE-4B82-B76E-54C2A1224BD8}"/>
              </a:ext>
            </a:extLst>
          </p:cNvPr>
          <p:cNvSpPr>
            <a:spLocks xmlns:a="http://schemas.openxmlformats.org/drawingml/2006/main" noGrp="1"/>
          </p:cNvSpPr>
          <p:nvPr/>
        </p:nvSpPr>
        <p:spPr>
          <a:xfrm xmlns:a="http://schemas.openxmlformats.org/drawingml/2006/main">
            <a:off x="4524375" y="2867025"/>
            <a:ext cx="247650" cy="247650"/>
          </a:xfrm>
          <a:prstGeom xmlns:a="http://schemas.openxmlformats.org/drawingml/2006/main" prst="roundRect">
            <a:avLst>
              <a:gd name="adj" fmla="val 50000"/>
            </a:avLst>
          </a:prstGeom>
          <a:solidFill xmlns:a="http://schemas.openxmlformats.org/drawingml/2006/main">
            <a:srgbClr val="F6F1E8"/>
          </a:solidFill>
          <a:ln xmlns:a="http://schemas.openxmlformats.org/drawingml/2006/main" w="9525">
            <a:solidFill>
              <a:srgbClr val="2D6F6B"/>
            </a:solidFill>
            <a:prstDash val="solid"/>
          </a:ln>
        </p:spPr>
      </p:sp>
      <p:sp>
        <p:nvSpPr>
          <p:cNvPr id="15" name="scenario-number-2">
            <a:extLst xmlns:a="http://schemas.openxmlformats.org/drawingml/2006/main">
              <a:ext uri="{FF2B5EF4-FFF2-40B4-BE49-F238E27FC236}">
                <a16:creationId xmlns:a16="http://schemas.microsoft.com/office/drawing/2014/main" id="{BA7AAD42-AA9F-4894-B188-FAA345C9E712}"/>
              </a:ext>
            </a:extLst>
          </p:cNvPr>
          <p:cNvSpPr>
            <a:spLocks xmlns:a="http://schemas.openxmlformats.org/drawingml/2006/main" noGrp="1"/>
          </p:cNvSpPr>
          <p:nvPr/>
        </p:nvSpPr>
        <p:spPr>
          <a:xfrm xmlns:a="http://schemas.openxmlformats.org/drawingml/2006/main">
            <a:off x="44577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03</a:t>
            </a:r>
          </a:p>
        </p:txBody>
      </p:sp>
      <p:sp>
        <p:nvSpPr>
          <p:cNvPr id="16" name="scenario-step-2">
            <a:extLst xmlns:a="http://schemas.openxmlformats.org/drawingml/2006/main">
              <a:ext uri="{FF2B5EF4-FFF2-40B4-BE49-F238E27FC236}">
                <a16:creationId xmlns:a16="http://schemas.microsoft.com/office/drawing/2014/main" id="{E4854C5F-0683-4452-80EF-616420175AF0}"/>
              </a:ext>
            </a:extLst>
          </p:cNvPr>
          <p:cNvSpPr>
            <a:spLocks xmlns:a="http://schemas.openxmlformats.org/drawingml/2006/main" noGrp="1"/>
          </p:cNvSpPr>
          <p:nvPr/>
        </p:nvSpPr>
        <p:spPr>
          <a:xfrm xmlns:a="http://schemas.openxmlformats.org/drawingml/2006/main">
            <a:off x="39433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Open follow-up</a:t>
            </a:r>
          </a:p>
        </p:txBody>
      </p:sp>
      <p:sp>
        <p:nvSpPr>
          <p:cNvPr id="17" name="scenario-quote-2">
            <a:extLst xmlns:a="http://schemas.openxmlformats.org/drawingml/2006/main">
              <a:ext uri="{FF2B5EF4-FFF2-40B4-BE49-F238E27FC236}">
                <a16:creationId xmlns:a16="http://schemas.microsoft.com/office/drawing/2014/main" id="{CAB006C8-8733-4CD8-B381-BE1C8CAD15C4}"/>
              </a:ext>
            </a:extLst>
          </p:cNvPr>
          <p:cNvSpPr>
            <a:spLocks xmlns:a="http://schemas.openxmlformats.org/drawingml/2006/main" noGrp="1"/>
          </p:cNvSpPr>
          <p:nvPr/>
        </p:nvSpPr>
        <p:spPr>
          <a:xfrm xmlns:a="http://schemas.openxmlformats.org/drawingml/2006/main">
            <a:off x="38862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“Can you tell me what led to this?”</a:t>
            </a:r>
          </a:p>
        </p:txBody>
      </p:sp>
      <p:sp>
        <p:nvSpPr>
          <p:cNvPr id="18" name="scenario-node-3">
            <a:extLst xmlns:a="http://schemas.openxmlformats.org/drawingml/2006/main">
              <a:ext uri="{FF2B5EF4-FFF2-40B4-BE49-F238E27FC236}">
                <a16:creationId xmlns:a16="http://schemas.microsoft.com/office/drawing/2014/main" id="{D23A383C-CA35-4EE1-85FF-1BFBFD6F4D16}"/>
              </a:ext>
            </a:extLst>
          </p:cNvPr>
          <p:cNvSpPr>
            <a:spLocks xmlns:a="http://schemas.openxmlformats.org/drawingml/2006/main" noGrp="1"/>
          </p:cNvSpPr>
          <p:nvPr/>
        </p:nvSpPr>
        <p:spPr>
          <a:xfrm xmlns:a="http://schemas.openxmlformats.org/drawingml/2006/main">
            <a:off x="6391275" y="2867025"/>
            <a:ext cx="247650" cy="247650"/>
          </a:xfrm>
          <a:prstGeom xmlns:a="http://schemas.openxmlformats.org/drawingml/2006/main" prst="roundRect">
            <a:avLst>
              <a:gd name="adj" fmla="val 50000"/>
            </a:avLst>
          </a:prstGeom>
          <a:solidFill xmlns:a="http://schemas.openxmlformats.org/drawingml/2006/main">
            <a:srgbClr val="F6F1E8"/>
          </a:solidFill>
          <a:ln xmlns:a="http://schemas.openxmlformats.org/drawingml/2006/main" w="9525">
            <a:solidFill>
              <a:srgbClr val="2D6F6B"/>
            </a:solidFill>
            <a:prstDash val="solid"/>
          </a:ln>
        </p:spPr>
      </p:sp>
      <p:sp>
        <p:nvSpPr>
          <p:cNvPr id="19" name="scenario-number-3">
            <a:extLst xmlns:a="http://schemas.openxmlformats.org/drawingml/2006/main">
              <a:ext uri="{FF2B5EF4-FFF2-40B4-BE49-F238E27FC236}">
                <a16:creationId xmlns:a16="http://schemas.microsoft.com/office/drawing/2014/main" id="{7CEE4308-373E-4D3D-8414-47A3F09BD9D0}"/>
              </a:ext>
            </a:extLst>
          </p:cNvPr>
          <p:cNvSpPr>
            <a:spLocks xmlns:a="http://schemas.openxmlformats.org/drawingml/2006/main" noGrp="1"/>
          </p:cNvSpPr>
          <p:nvPr/>
        </p:nvSpPr>
        <p:spPr>
          <a:xfrm xmlns:a="http://schemas.openxmlformats.org/drawingml/2006/main">
            <a:off x="63246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04</a:t>
            </a:r>
          </a:p>
        </p:txBody>
      </p:sp>
      <p:sp>
        <p:nvSpPr>
          <p:cNvPr id="20" name="scenario-step-3">
            <a:extLst xmlns:a="http://schemas.openxmlformats.org/drawingml/2006/main">
              <a:ext uri="{FF2B5EF4-FFF2-40B4-BE49-F238E27FC236}">
                <a16:creationId xmlns:a16="http://schemas.microsoft.com/office/drawing/2014/main" id="{23E0CFC7-8A2D-4381-9EE2-C2DEA1CBB807}"/>
              </a:ext>
            </a:extLst>
          </p:cNvPr>
          <p:cNvSpPr>
            <a:spLocks xmlns:a="http://schemas.openxmlformats.org/drawingml/2006/main" noGrp="1"/>
          </p:cNvSpPr>
          <p:nvPr/>
        </p:nvSpPr>
        <p:spPr>
          <a:xfrm xmlns:a="http://schemas.openxmlformats.org/drawingml/2006/main">
            <a:off x="58102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99222"/>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Incident surfaces</a:t>
            </a:r>
          </a:p>
        </p:txBody>
      </p:sp>
      <p:sp>
        <p:nvSpPr>
          <p:cNvPr id="21" name="scenario-quote-3">
            <a:extLst xmlns:a="http://schemas.openxmlformats.org/drawingml/2006/main">
              <a:ext uri="{FF2B5EF4-FFF2-40B4-BE49-F238E27FC236}">
                <a16:creationId xmlns:a16="http://schemas.microsoft.com/office/drawing/2014/main" id="{64854D29-1F08-47EC-A79B-C3B9E61E288E}"/>
              </a:ext>
            </a:extLst>
          </p:cNvPr>
          <p:cNvSpPr>
            <a:spLocks xmlns:a="http://schemas.openxmlformats.org/drawingml/2006/main" noGrp="1"/>
          </p:cNvSpPr>
          <p:nvPr/>
        </p:nvSpPr>
        <p:spPr>
          <a:xfrm xmlns:a="http://schemas.openxmlformats.org/drawingml/2006/main">
            <a:off x="57531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Rushed. Dismissive. Made to feel stupid.</a:t>
            </a:r>
          </a:p>
        </p:txBody>
      </p:sp>
      <p:sp>
        <p:nvSpPr>
          <p:cNvPr id="22" name="scenario-node-4">
            <a:extLst xmlns:a="http://schemas.openxmlformats.org/drawingml/2006/main">
              <a:ext uri="{FF2B5EF4-FFF2-40B4-BE49-F238E27FC236}">
                <a16:creationId xmlns:a16="http://schemas.microsoft.com/office/drawing/2014/main" id="{2E2E0D4C-3459-498C-B47B-A39A0A78BBBB}"/>
              </a:ext>
            </a:extLst>
          </p:cNvPr>
          <p:cNvSpPr>
            <a:spLocks xmlns:a="http://schemas.openxmlformats.org/drawingml/2006/main" noGrp="1"/>
          </p:cNvSpPr>
          <p:nvPr/>
        </p:nvSpPr>
        <p:spPr>
          <a:xfrm xmlns:a="http://schemas.openxmlformats.org/drawingml/2006/main">
            <a:off x="8258175" y="2867025"/>
            <a:ext cx="247650" cy="247650"/>
          </a:xfrm>
          <a:prstGeom xmlns:a="http://schemas.openxmlformats.org/drawingml/2006/main" prst="roundRect">
            <a:avLst>
              <a:gd name="adj" fmla="val 50000"/>
            </a:avLst>
          </a:prstGeom>
          <a:solidFill xmlns:a="http://schemas.openxmlformats.org/drawingml/2006/main">
            <a:srgbClr val="2D6F6B"/>
          </a:solidFill>
          <a:ln xmlns:a="http://schemas.openxmlformats.org/drawingml/2006/main" w="9525">
            <a:solidFill>
              <a:srgbClr val="2D6F6B"/>
            </a:solidFill>
            <a:prstDash val="solid"/>
          </a:ln>
        </p:spPr>
      </p:sp>
      <p:sp>
        <p:nvSpPr>
          <p:cNvPr id="23" name="scenario-number-4">
            <a:extLst xmlns:a="http://schemas.openxmlformats.org/drawingml/2006/main">
              <a:ext uri="{FF2B5EF4-FFF2-40B4-BE49-F238E27FC236}">
                <a16:creationId xmlns:a16="http://schemas.microsoft.com/office/drawing/2014/main" id="{24CAFF6C-9B2B-4DD8-8368-04B3EEDD9C1C}"/>
              </a:ext>
            </a:extLst>
          </p:cNvPr>
          <p:cNvSpPr>
            <a:spLocks xmlns:a="http://schemas.openxmlformats.org/drawingml/2006/main" noGrp="1"/>
          </p:cNvSpPr>
          <p:nvPr/>
        </p:nvSpPr>
        <p:spPr>
          <a:xfrm xmlns:a="http://schemas.openxmlformats.org/drawingml/2006/main">
            <a:off x="81915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05</a:t>
            </a:r>
          </a:p>
        </p:txBody>
      </p:sp>
      <p:sp>
        <p:nvSpPr>
          <p:cNvPr id="24" name="scenario-step-4">
            <a:extLst xmlns:a="http://schemas.openxmlformats.org/drawingml/2006/main">
              <a:ext uri="{FF2B5EF4-FFF2-40B4-BE49-F238E27FC236}">
                <a16:creationId xmlns:a16="http://schemas.microsoft.com/office/drawing/2014/main" id="{A981C900-12FA-4286-B157-1C74E41E0A6B}"/>
              </a:ext>
            </a:extLst>
          </p:cNvPr>
          <p:cNvSpPr>
            <a:spLocks xmlns:a="http://schemas.openxmlformats.org/drawingml/2006/main" noGrp="1"/>
          </p:cNvSpPr>
          <p:nvPr/>
        </p:nvSpPr>
        <p:spPr>
          <a:xfrm xmlns:a="http://schemas.openxmlformats.org/drawingml/2006/main">
            <a:off x="76771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Gate</a:t>
            </a:r>
          </a:p>
        </p:txBody>
      </p:sp>
      <p:sp>
        <p:nvSpPr>
          <p:cNvPr id="25" name="scenario-quote-4">
            <a:extLst xmlns:a="http://schemas.openxmlformats.org/drawingml/2006/main">
              <a:ext uri="{FF2B5EF4-FFF2-40B4-BE49-F238E27FC236}">
                <a16:creationId xmlns:a16="http://schemas.microsoft.com/office/drawing/2014/main" id="{C1821293-A382-42EC-A92A-5AEDE596704F}"/>
              </a:ext>
            </a:extLst>
          </p:cNvPr>
          <p:cNvSpPr>
            <a:spLocks xmlns:a="http://schemas.openxmlformats.org/drawingml/2006/main" noGrp="1"/>
          </p:cNvSpPr>
          <p:nvPr/>
        </p:nvSpPr>
        <p:spPr>
          <a:xfrm xmlns:a="http://schemas.openxmlformats.org/drawingml/2006/main">
            <a:off x="76200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Specific acknowledgment—no excuses or blame.</a:t>
            </a:r>
          </a:p>
        </p:txBody>
      </p:sp>
      <p:sp>
        <p:nvSpPr>
          <p:cNvPr id="26" name="scenario-node-5">
            <a:extLst xmlns:a="http://schemas.openxmlformats.org/drawingml/2006/main">
              <a:ext uri="{FF2B5EF4-FFF2-40B4-BE49-F238E27FC236}">
                <a16:creationId xmlns:a16="http://schemas.microsoft.com/office/drawing/2014/main" id="{146E1906-DF65-4B56-A8F6-8FA556DAA60C}"/>
              </a:ext>
            </a:extLst>
          </p:cNvPr>
          <p:cNvSpPr>
            <a:spLocks xmlns:a="http://schemas.openxmlformats.org/drawingml/2006/main" noGrp="1"/>
          </p:cNvSpPr>
          <p:nvPr/>
        </p:nvSpPr>
        <p:spPr>
          <a:xfrm xmlns:a="http://schemas.openxmlformats.org/drawingml/2006/main">
            <a:off x="10125075" y="2867025"/>
            <a:ext cx="247650" cy="247650"/>
          </a:xfrm>
          <a:prstGeom xmlns:a="http://schemas.openxmlformats.org/drawingml/2006/main" prst="roundRect">
            <a:avLst>
              <a:gd name="adj" fmla="val 50000"/>
            </a:avLst>
          </a:prstGeom>
          <a:solidFill xmlns:a="http://schemas.openxmlformats.org/drawingml/2006/main">
            <a:srgbClr val="2D6F6B"/>
          </a:solidFill>
          <a:ln xmlns:a="http://schemas.openxmlformats.org/drawingml/2006/main" w="9525">
            <a:solidFill>
              <a:srgbClr val="2D6F6B"/>
            </a:solidFill>
            <a:prstDash val="solid"/>
          </a:ln>
        </p:spPr>
      </p:sp>
      <p:sp>
        <p:nvSpPr>
          <p:cNvPr id="27" name="scenario-number-5">
            <a:extLst xmlns:a="http://schemas.openxmlformats.org/drawingml/2006/main">
              <a:ext uri="{FF2B5EF4-FFF2-40B4-BE49-F238E27FC236}">
                <a16:creationId xmlns:a16="http://schemas.microsoft.com/office/drawing/2014/main" id="{327D4FA4-4DB3-4740-A183-40F2CB00A054}"/>
              </a:ext>
            </a:extLst>
          </p:cNvPr>
          <p:cNvSpPr>
            <a:spLocks xmlns:a="http://schemas.openxmlformats.org/drawingml/2006/main" noGrp="1"/>
          </p:cNvSpPr>
          <p:nvPr/>
        </p:nvSpPr>
        <p:spPr>
          <a:xfrm xmlns:a="http://schemas.openxmlformats.org/drawingml/2006/main">
            <a:off x="10058400" y="253365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2D6F6B"/>
                </a:solidFill>
                <a:latin typeface="Aptos"/>
                <a:ea typeface="Aptos"/>
                <a:cs typeface="Aptos"/>
              </a:defRPr>
            </a:pPr>
            <a:r>
              <a:rPr sz="1200" b="1" i="0">
                <a:solidFill>
                  <a:srgbClr val="2D6F6B"/>
                </a:solidFill>
                <a:latin typeface="Aptos"/>
                <a:ea typeface="Aptos"/>
                <a:cs typeface="Aptos"/>
              </a:rPr>
              <a:t>06</a:t>
            </a:r>
          </a:p>
        </p:txBody>
      </p:sp>
      <p:sp>
        <p:nvSpPr>
          <p:cNvPr id="28" name="scenario-step-5">
            <a:extLst xmlns:a="http://schemas.openxmlformats.org/drawingml/2006/main">
              <a:ext uri="{FF2B5EF4-FFF2-40B4-BE49-F238E27FC236}">
                <a16:creationId xmlns:a16="http://schemas.microsoft.com/office/drawing/2014/main" id="{61652B4C-6D69-4808-8123-0FD9590EA9DA}"/>
              </a:ext>
            </a:extLst>
          </p:cNvPr>
          <p:cNvSpPr>
            <a:spLocks xmlns:a="http://schemas.openxmlformats.org/drawingml/2006/main" noGrp="1"/>
          </p:cNvSpPr>
          <p:nvPr/>
        </p:nvSpPr>
        <p:spPr>
          <a:xfrm xmlns:a="http://schemas.openxmlformats.org/drawingml/2006/main">
            <a:off x="9544050" y="3257550"/>
            <a:ext cx="1409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i="0">
                <a:solidFill>
                  <a:srgbClr val="162A3C"/>
                </a:solidFill>
                <a:latin typeface="Aptos"/>
                <a:ea typeface="Aptos"/>
                <a:cs typeface="Aptos"/>
              </a:defRPr>
            </a:pPr>
            <a:r>
              <a:rPr sz="1500" b="1" i="0">
                <a:solidFill>
                  <a:srgbClr val="162A3C"/>
                </a:solidFill>
                <a:latin typeface="Aptos"/>
                <a:ea typeface="Aptos"/>
                <a:cs typeface="Aptos"/>
              </a:rPr>
              <a:t>Felt-heard check</a:t>
            </a:r>
          </a:p>
        </p:txBody>
      </p:sp>
      <p:sp>
        <p:nvSpPr>
          <p:cNvPr id="29" name="scenario-quote-5">
            <a:extLst xmlns:a="http://schemas.openxmlformats.org/drawingml/2006/main">
              <a:ext uri="{FF2B5EF4-FFF2-40B4-BE49-F238E27FC236}">
                <a16:creationId xmlns:a16="http://schemas.microsoft.com/office/drawing/2014/main" id="{C93710E2-0C81-4BBE-B4D3-0F547DF29E57}"/>
              </a:ext>
            </a:extLst>
          </p:cNvPr>
          <p:cNvSpPr>
            <a:spLocks xmlns:a="http://schemas.openxmlformats.org/drawingml/2006/main" noGrp="1"/>
          </p:cNvSpPr>
          <p:nvPr/>
        </p:nvSpPr>
        <p:spPr>
          <a:xfrm xmlns:a="http://schemas.openxmlformats.org/drawingml/2006/main">
            <a:off x="9486900" y="3714750"/>
            <a:ext cx="152400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5B6670"/>
                </a:solidFill>
                <a:latin typeface="Aptos"/>
                <a:ea typeface="Aptos"/>
                <a:cs typeface="Aptos"/>
              </a:defRPr>
            </a:pPr>
            <a:r>
              <a:rPr sz="1350" b="0" i="0">
                <a:solidFill>
                  <a:srgbClr val="5B6670"/>
                </a:solidFill>
                <a:latin typeface="Aptos"/>
                <a:ea typeface="Aptos"/>
                <a:cs typeface="Aptos"/>
              </a:rPr>
              <a:t>“Do you feel heard now?”</a:t>
            </a:r>
          </a:p>
        </p:txBody>
      </p:sp>
      <p:sp>
        <p:nvSpPr>
          <p:cNvPr id="30" name="scenario-authored-band">
            <a:extLst xmlns:a="http://schemas.openxmlformats.org/drawingml/2006/main">
              <a:ext uri="{FF2B5EF4-FFF2-40B4-BE49-F238E27FC236}">
                <a16:creationId xmlns:a16="http://schemas.microsoft.com/office/drawing/2014/main" id="{29DFFA88-B20B-431B-95CD-C361613ABB72}"/>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oundRect">
            <a:avLst>
              <a:gd name="adj" fmla="val 16071"/>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31" name="scenario-briefing">
            <a:extLst xmlns:a="http://schemas.openxmlformats.org/drawingml/2006/main">
              <a:ext uri="{FF2B5EF4-FFF2-40B4-BE49-F238E27FC236}">
                <a16:creationId xmlns:a16="http://schemas.microsoft.com/office/drawing/2014/main" id="{AD4FFFC7-4416-473B-A1B0-0C6833AE8386}"/>
              </a:ext>
            </a:extLst>
          </p:cNvPr>
          <p:cNvSpPr>
            <a:spLocks xmlns:a="http://schemas.openxmlformats.org/drawingml/2006/main" noGrp="1"/>
          </p:cNvSpPr>
          <p:nvPr/>
        </p:nvSpPr>
        <p:spPr>
          <a:xfrm xmlns:a="http://schemas.openxmlformats.org/drawingml/2006/main">
            <a:off x="914400" y="5162550"/>
            <a:ext cx="3381375"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17222F"/>
                </a:solidFill>
                <a:latin typeface="Aptos"/>
                <a:ea typeface="Aptos"/>
                <a:cs typeface="Aptos"/>
              </a:defRPr>
            </a:pPr>
            <a:r>
              <a:rPr sz="1500" b="1">
                <a:solidFill>
                  <a:srgbClr val="17222F"/>
                </a:solidFill>
                <a:latin typeface="Aptos"/>
                <a:ea typeface="Aptos"/>
                <a:cs typeface="Aptos"/>
              </a:rPr>
              <a:t>Briefing  </a:t>
            </a:r>
            <a:r>
              <a:rPr sz="1500">
                <a:solidFill>
                  <a:srgbClr val="17222F"/>
                </a:solidFill>
                <a:latin typeface="Aptos"/>
                <a:ea typeface="Aptos"/>
                <a:cs typeface="Aptos"/>
              </a:rPr>
              <a:t>No discounts, waivers, or authority to change anything.</a:t>
            </a:r>
          </a:p>
        </p:txBody>
      </p:sp>
      <p:sp>
        <p:nvSpPr>
          <p:cNvPr id="32" name="scenario-persona-profile">
            <a:extLst xmlns:a="http://schemas.openxmlformats.org/drawingml/2006/main">
              <a:ext uri="{FF2B5EF4-FFF2-40B4-BE49-F238E27FC236}">
                <a16:creationId xmlns:a16="http://schemas.microsoft.com/office/drawing/2014/main" id="{5E411217-DE83-4BA4-9AD1-48C9532CC5E8}"/>
              </a:ext>
            </a:extLst>
          </p:cNvPr>
          <p:cNvSpPr>
            <a:spLocks xmlns:a="http://schemas.openxmlformats.org/drawingml/2006/main" noGrp="1"/>
          </p:cNvSpPr>
          <p:nvPr/>
        </p:nvSpPr>
        <p:spPr>
          <a:xfrm xmlns:a="http://schemas.openxmlformats.org/drawingml/2006/main">
            <a:off x="4495800" y="5162550"/>
            <a:ext cx="3524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17222F"/>
                </a:solidFill>
                <a:latin typeface="Aptos"/>
                <a:ea typeface="Aptos"/>
                <a:cs typeface="Aptos"/>
              </a:defRPr>
            </a:pPr>
            <a:r>
              <a:rPr sz="1500" b="1">
                <a:solidFill>
                  <a:srgbClr val="17222F"/>
                </a:solidFill>
                <a:latin typeface="Aptos"/>
                <a:ea typeface="Aptos"/>
                <a:cs typeface="Aptos"/>
              </a:rPr>
              <a:t>Persona + Private Profile  </a:t>
            </a:r>
            <a:r>
              <a:rPr sz="1500">
                <a:solidFill>
                  <a:srgbClr val="17222F"/>
                </a:solidFill>
                <a:latin typeface="Aptos"/>
                <a:ea typeface="Aptos"/>
                <a:cs typeface="Aptos"/>
              </a:rPr>
              <a:t>Resistance and disclosure are authored around the skill—not random.</a:t>
            </a:r>
          </a:p>
        </p:txBody>
      </p:sp>
      <p:sp>
        <p:nvSpPr>
          <p:cNvPr id="33" name="scenario-gate-rubric">
            <a:extLst xmlns:a="http://schemas.openxmlformats.org/drawingml/2006/main">
              <a:ext uri="{FF2B5EF4-FFF2-40B4-BE49-F238E27FC236}">
                <a16:creationId xmlns:a16="http://schemas.microsoft.com/office/drawing/2014/main" id="{F1EA4765-7D33-4A11-BD8D-1C90C75A90C5}"/>
              </a:ext>
            </a:extLst>
          </p:cNvPr>
          <p:cNvSpPr>
            <a:spLocks xmlns:a="http://schemas.openxmlformats.org/drawingml/2006/main" noGrp="1"/>
          </p:cNvSpPr>
          <p:nvPr/>
        </p:nvSpPr>
        <p:spPr>
          <a:xfrm xmlns:a="http://schemas.openxmlformats.org/drawingml/2006/main">
            <a:off x="8191500" y="5162550"/>
            <a:ext cx="30861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17222F"/>
                </a:solidFill>
                <a:latin typeface="Aptos"/>
                <a:ea typeface="Aptos"/>
                <a:cs typeface="Aptos"/>
              </a:defRPr>
            </a:pPr>
            <a:r>
              <a:rPr sz="1500" b="1">
                <a:solidFill>
                  <a:srgbClr val="17222F"/>
                </a:solidFill>
                <a:latin typeface="Aptos"/>
                <a:ea typeface="Aptos"/>
                <a:cs typeface="Aptos"/>
              </a:rPr>
              <a:t>Gate + Rubric  </a:t>
            </a:r>
            <a:r>
              <a:rPr sz="1500">
                <a:solidFill>
                  <a:srgbClr val="17222F"/>
                </a:solidFill>
                <a:latin typeface="Aptos"/>
                <a:ea typeface="Aptos"/>
                <a:cs typeface="Aptos"/>
              </a:rPr>
              <a:t>A stable standard makes the behavioral sequence observable.</a:t>
            </a:r>
          </a:p>
        </p:txBody>
      </p:sp>
      <p:sp>
        <p:nvSpPr>
          <p:cNvPr id="34" name="slide-4-footer-number">
            <a:extLst xmlns:a="http://schemas.openxmlformats.org/drawingml/2006/main">
              <a:ext uri="{FF2B5EF4-FFF2-40B4-BE49-F238E27FC236}">
                <a16:creationId xmlns:a16="http://schemas.microsoft.com/office/drawing/2014/main" id="{9115BF3A-62F9-44AC-BA19-F14026EFA366}"/>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04</a:t>
            </a:r>
          </a:p>
        </p:txBody>
      </p:sp>
    </p:spTree>
    <p:extLst>
      <p:ext uri="{BB962C8B-B14F-4D97-AF65-F5344CB8AC3E}">
        <p14:creationId xmlns:p14="http://schemas.microsoft.com/office/powerpoint/2010/main" val="1893265305"/>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32" name="slide-5-title">
            <a:extLst xmlns:a="http://schemas.openxmlformats.org/drawingml/2006/main">
              <a:ext uri="{FF2B5EF4-FFF2-40B4-BE49-F238E27FC236}">
                <a16:creationId xmlns:a16="http://schemas.microsoft.com/office/drawing/2014/main" id="{B5622714-EEAD-4206-A3B6-60C15DC3531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75" b="1" i="0">
                <a:solidFill>
                  <a:srgbClr val="17222F"/>
                </a:solidFill>
                <a:latin typeface="Aptos Display"/>
                <a:ea typeface="Aptos Display"/>
                <a:cs typeface="Aptos Display"/>
              </a:defRPr>
            </a:pPr>
            <a:r>
              <a:rPr sz="3675" b="1" i="0">
                <a:solidFill>
                  <a:srgbClr val="17222F"/>
                </a:solidFill>
                <a:latin typeface="Aptos Display"/>
                <a:ea typeface="Aptos Display"/>
                <a:cs typeface="Aptos Display"/>
              </a:rPr>
              <a:t>The system turns an Attempt into a specific next move</a:t>
            </a:r>
          </a:p>
        </p:txBody>
      </p:sp>
      <p:sp>
        <p:nvSpPr>
          <p:cNvPr id="2" name="slide-5-top-rule">
            <a:extLst xmlns:a="http://schemas.openxmlformats.org/drawingml/2006/main">
              <a:ext uri="{FF2B5EF4-FFF2-40B4-BE49-F238E27FC236}">
                <a16:creationId xmlns:a16="http://schemas.microsoft.com/office/drawing/2014/main" id="{3A2FACC1-911F-4026-A6BD-5958A24AE51E}"/>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loop-arrow-0">
            <a:extLst xmlns:a="http://schemas.openxmlformats.org/drawingml/2006/main">
              <a:ext uri="{FF2B5EF4-FFF2-40B4-BE49-F238E27FC236}">
                <a16:creationId xmlns:a16="http://schemas.microsoft.com/office/drawing/2014/main" id="{EFBDDD58-F545-4324-B901-22BE5009AF91}"/>
              </a:ext>
            </a:extLst>
          </p:cNvPr>
          <p:cNvSpPr>
            <a:spLocks xmlns:a="http://schemas.openxmlformats.org/drawingml/2006/main" noGrp="1"/>
          </p:cNvSpPr>
          <p:nvPr/>
        </p:nvSpPr>
        <p:spPr>
          <a:xfrm xmlns:a="http://schemas.openxmlformats.org/drawingml/2006/main">
            <a:off x="2343150" y="2419350"/>
            <a:ext cx="2667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2D6F6B"/>
                </a:solidFill>
                <a:latin typeface="Aptos Display"/>
                <a:ea typeface="Aptos Display"/>
                <a:cs typeface="Aptos Display"/>
              </a:defRPr>
            </a:pPr>
            <a:r>
              <a:rPr sz="2850" b="1" i="0">
                <a:solidFill>
                  <a:srgbClr val="2D6F6B"/>
                </a:solidFill>
                <a:latin typeface="Aptos Display"/>
                <a:ea typeface="Aptos Display"/>
                <a:cs typeface="Aptos Display"/>
              </a:rPr>
              <a:t>→</a:t>
            </a:r>
          </a:p>
        </p:txBody>
      </p:sp>
      <p:sp>
        <p:nvSpPr>
          <p:cNvPr id="4" name="loop-arrow-1">
            <a:extLst xmlns:a="http://schemas.openxmlformats.org/drawingml/2006/main">
              <a:ext uri="{FF2B5EF4-FFF2-40B4-BE49-F238E27FC236}">
                <a16:creationId xmlns:a16="http://schemas.microsoft.com/office/drawing/2014/main" id="{FFCAEEBB-59FC-4D04-8453-0F2EB43E8DB6}"/>
              </a:ext>
            </a:extLst>
          </p:cNvPr>
          <p:cNvSpPr>
            <a:spLocks xmlns:a="http://schemas.openxmlformats.org/drawingml/2006/main" noGrp="1"/>
          </p:cNvSpPr>
          <p:nvPr/>
        </p:nvSpPr>
        <p:spPr>
          <a:xfrm xmlns:a="http://schemas.openxmlformats.org/drawingml/2006/main">
            <a:off x="4762500" y="2419350"/>
            <a:ext cx="2667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C57A42"/>
                </a:solidFill>
                <a:latin typeface="Aptos Display"/>
                <a:ea typeface="Aptos Display"/>
                <a:cs typeface="Aptos Display"/>
              </a:defRPr>
            </a:pPr>
            <a:r>
              <a:rPr sz="2850" b="1" i="0">
                <a:solidFill>
                  <a:srgbClr val="C57A42"/>
                </a:solidFill>
                <a:latin typeface="Aptos Display"/>
                <a:ea typeface="Aptos Display"/>
                <a:cs typeface="Aptos Display"/>
              </a:rPr>
              <a:t>→</a:t>
            </a:r>
          </a:p>
        </p:txBody>
      </p:sp>
      <p:sp>
        <p:nvSpPr>
          <p:cNvPr id="5" name="loop-arrow-2">
            <a:extLst xmlns:a="http://schemas.openxmlformats.org/drawingml/2006/main">
              <a:ext uri="{FF2B5EF4-FFF2-40B4-BE49-F238E27FC236}">
                <a16:creationId xmlns:a16="http://schemas.microsoft.com/office/drawing/2014/main" id="{FEB44719-0FBB-4755-BC78-2E6DD8869A43}"/>
              </a:ext>
            </a:extLst>
          </p:cNvPr>
          <p:cNvSpPr>
            <a:spLocks xmlns:a="http://schemas.openxmlformats.org/drawingml/2006/main" noGrp="1"/>
          </p:cNvSpPr>
          <p:nvPr/>
        </p:nvSpPr>
        <p:spPr>
          <a:xfrm xmlns:a="http://schemas.openxmlformats.org/drawingml/2006/main">
            <a:off x="7181850" y="2419350"/>
            <a:ext cx="2667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2D6F6B"/>
                </a:solidFill>
                <a:latin typeface="Aptos Display"/>
                <a:ea typeface="Aptos Display"/>
                <a:cs typeface="Aptos Display"/>
              </a:defRPr>
            </a:pPr>
            <a:r>
              <a:rPr sz="2850" b="1" i="0">
                <a:solidFill>
                  <a:srgbClr val="2D6F6B"/>
                </a:solidFill>
                <a:latin typeface="Aptos Display"/>
                <a:ea typeface="Aptos Display"/>
                <a:cs typeface="Aptos Display"/>
              </a:rPr>
              <a:t>→</a:t>
            </a:r>
          </a:p>
        </p:txBody>
      </p:sp>
      <p:sp>
        <p:nvSpPr>
          <p:cNvPr id="6" name="loop-arrow-3">
            <a:extLst xmlns:a="http://schemas.openxmlformats.org/drawingml/2006/main">
              <a:ext uri="{FF2B5EF4-FFF2-40B4-BE49-F238E27FC236}">
                <a16:creationId xmlns:a16="http://schemas.microsoft.com/office/drawing/2014/main" id="{0016FF44-FF73-497A-9ED5-41BDBD3D9E92}"/>
              </a:ext>
            </a:extLst>
          </p:cNvPr>
          <p:cNvSpPr>
            <a:spLocks xmlns:a="http://schemas.openxmlformats.org/drawingml/2006/main" noGrp="1"/>
          </p:cNvSpPr>
          <p:nvPr/>
        </p:nvSpPr>
        <p:spPr>
          <a:xfrm xmlns:a="http://schemas.openxmlformats.org/drawingml/2006/main">
            <a:off x="9124950" y="2419350"/>
            <a:ext cx="2667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2D6F6B"/>
                </a:solidFill>
                <a:latin typeface="Aptos Display"/>
                <a:ea typeface="Aptos Display"/>
                <a:cs typeface="Aptos Display"/>
              </a:defRPr>
            </a:pPr>
            <a:r>
              <a:rPr sz="2850" b="1" i="0">
                <a:solidFill>
                  <a:srgbClr val="2D6F6B"/>
                </a:solidFill>
                <a:latin typeface="Aptos Display"/>
                <a:ea typeface="Aptos Display"/>
                <a:cs typeface="Aptos Display"/>
              </a:rPr>
              <a:t>→</a:t>
            </a:r>
          </a:p>
        </p:txBody>
      </p:sp>
      <p:sp>
        <p:nvSpPr>
          <p:cNvPr id="7" name="loop-node-0">
            <a:extLst xmlns:a="http://schemas.openxmlformats.org/drawingml/2006/main">
              <a:ext uri="{FF2B5EF4-FFF2-40B4-BE49-F238E27FC236}">
                <a16:creationId xmlns:a16="http://schemas.microsoft.com/office/drawing/2014/main" id="{30040156-0877-489F-BE87-F01A16A54051}"/>
              </a:ext>
            </a:extLst>
          </p:cNvPr>
          <p:cNvSpPr>
            <a:spLocks xmlns:a="http://schemas.openxmlformats.org/drawingml/2006/main" noGrp="1"/>
          </p:cNvSpPr>
          <p:nvPr/>
        </p:nvSpPr>
        <p:spPr>
          <a:xfrm xmlns:a="http://schemas.openxmlformats.org/drawingml/2006/main">
            <a:off x="647700" y="2076450"/>
            <a:ext cx="1619250" cy="1143000"/>
          </a:xfrm>
          <a:prstGeom xmlns:a="http://schemas.openxmlformats.org/drawingml/2006/main" prst="roundRect">
            <a:avLst>
              <a:gd name="adj" fmla="val 16667"/>
            </a:avLst>
          </a:prstGeom>
          <a:solidFill xmlns:a="http://schemas.openxmlformats.org/drawingml/2006/main">
            <a:srgbClr val="162A3C"/>
          </a:solidFill>
          <a:ln xmlns:a="http://schemas.openxmlformats.org/drawingml/2006/main" w="0">
            <a:solidFill>
              <a:srgbClr val="000000">
                <a:alpha val="0"/>
              </a:srgbClr>
            </a:solidFill>
            <a:prstDash val="solid"/>
          </a:ln>
        </p:spPr>
      </p:sp>
      <p:sp>
        <p:nvSpPr>
          <p:cNvPr id="8" name="loop-node-label-0">
            <a:extLst xmlns:a="http://schemas.openxmlformats.org/drawingml/2006/main">
              <a:ext uri="{FF2B5EF4-FFF2-40B4-BE49-F238E27FC236}">
                <a16:creationId xmlns:a16="http://schemas.microsoft.com/office/drawing/2014/main" id="{61F1D1EC-60EE-4BBA-A7F8-AB92361E2566}"/>
              </a:ext>
            </a:extLst>
          </p:cNvPr>
          <p:cNvSpPr>
            <a:spLocks xmlns:a="http://schemas.openxmlformats.org/drawingml/2006/main" noGrp="1"/>
          </p:cNvSpPr>
          <p:nvPr/>
        </p:nvSpPr>
        <p:spPr>
          <a:xfrm xmlns:a="http://schemas.openxmlformats.org/drawingml/2006/main">
            <a:off x="800100" y="2305050"/>
            <a:ext cx="1314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FFFFFF"/>
                </a:solidFill>
                <a:latin typeface="Aptos Display"/>
                <a:ea typeface="Aptos Display"/>
                <a:cs typeface="Aptos Display"/>
              </a:defRPr>
            </a:pPr>
            <a:r>
              <a:rPr sz="2025" b="1" i="0">
                <a:solidFill>
                  <a:srgbClr val="FFFFFF"/>
                </a:solidFill>
                <a:latin typeface="Aptos Display"/>
                <a:ea typeface="Aptos Display"/>
                <a:cs typeface="Aptos Display"/>
              </a:rPr>
              <a:t>Attempt</a:t>
            </a:r>
          </a:p>
        </p:txBody>
      </p:sp>
      <p:sp>
        <p:nvSpPr>
          <p:cNvPr id="9" name="loop-node-sub-0">
            <a:extLst xmlns:a="http://schemas.openxmlformats.org/drawingml/2006/main">
              <a:ext uri="{FF2B5EF4-FFF2-40B4-BE49-F238E27FC236}">
                <a16:creationId xmlns:a16="http://schemas.microsoft.com/office/drawing/2014/main" id="{BCF34C26-5F34-469C-A9EE-057B13F8AC0D}"/>
              </a:ext>
            </a:extLst>
          </p:cNvPr>
          <p:cNvSpPr>
            <a:spLocks xmlns:a="http://schemas.openxmlformats.org/drawingml/2006/main" noGrp="1"/>
          </p:cNvSpPr>
          <p:nvPr/>
        </p:nvSpPr>
        <p:spPr>
          <a:xfrm xmlns:a="http://schemas.openxmlformats.org/drawingml/2006/main">
            <a:off x="762000" y="2781300"/>
            <a:ext cx="1390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DDE6EB"/>
                </a:solidFill>
                <a:latin typeface="Aptos"/>
                <a:ea typeface="Aptos"/>
                <a:cs typeface="Aptos"/>
              </a:defRPr>
            </a:pPr>
            <a:r>
              <a:rPr sz="1275" b="0" i="0">
                <a:solidFill>
                  <a:srgbClr val="DDE6EB"/>
                </a:solidFill>
                <a:latin typeface="Aptos"/>
                <a:ea typeface="Aptos"/>
                <a:cs typeface="Aptos"/>
              </a:rPr>
              <a:t>spoken practice</a:t>
            </a:r>
          </a:p>
        </p:txBody>
      </p:sp>
      <p:sp>
        <p:nvSpPr>
          <p:cNvPr id="10" name="loop-node-1">
            <a:extLst xmlns:a="http://schemas.openxmlformats.org/drawingml/2006/main">
              <a:ext uri="{FF2B5EF4-FFF2-40B4-BE49-F238E27FC236}">
                <a16:creationId xmlns:a16="http://schemas.microsoft.com/office/drawing/2014/main" id="{1684AA3F-79C3-42D2-A218-8717B6841E67}"/>
              </a:ext>
            </a:extLst>
          </p:cNvPr>
          <p:cNvSpPr>
            <a:spLocks xmlns:a="http://schemas.openxmlformats.org/drawingml/2006/main" noGrp="1"/>
          </p:cNvSpPr>
          <p:nvPr/>
        </p:nvSpPr>
        <p:spPr>
          <a:xfrm xmlns:a="http://schemas.openxmlformats.org/drawingml/2006/main">
            <a:off x="2686050" y="2076450"/>
            <a:ext cx="2000250" cy="1143000"/>
          </a:xfrm>
          <a:prstGeom xmlns:a="http://schemas.openxmlformats.org/drawingml/2006/main" prst="roundRect">
            <a:avLst>
              <a:gd name="adj" fmla="val 16667"/>
            </a:avLst>
          </a:prstGeom>
          <a:solidFill xmlns:a="http://schemas.openxmlformats.org/drawingml/2006/main">
            <a:srgbClr val="DCE8E3"/>
          </a:solidFill>
          <a:ln xmlns:a="http://schemas.openxmlformats.org/drawingml/2006/main" w="0">
            <a:solidFill>
              <a:srgbClr val="000000">
                <a:alpha val="0"/>
              </a:srgbClr>
            </a:solidFill>
            <a:prstDash val="solid"/>
          </a:ln>
        </p:spPr>
      </p:sp>
      <p:sp>
        <p:nvSpPr>
          <p:cNvPr id="11" name="loop-node-label-1">
            <a:extLst xmlns:a="http://schemas.openxmlformats.org/drawingml/2006/main">
              <a:ext uri="{FF2B5EF4-FFF2-40B4-BE49-F238E27FC236}">
                <a16:creationId xmlns:a16="http://schemas.microsoft.com/office/drawing/2014/main" id="{82E8A928-58A2-4544-90AE-026A3D770436}"/>
              </a:ext>
            </a:extLst>
          </p:cNvPr>
          <p:cNvSpPr>
            <a:spLocks xmlns:a="http://schemas.openxmlformats.org/drawingml/2006/main" noGrp="1"/>
          </p:cNvSpPr>
          <p:nvPr/>
        </p:nvSpPr>
        <p:spPr>
          <a:xfrm xmlns:a="http://schemas.openxmlformats.org/drawingml/2006/main">
            <a:off x="2838450" y="2305050"/>
            <a:ext cx="169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162A3C"/>
                </a:solidFill>
                <a:latin typeface="Aptos Display"/>
                <a:ea typeface="Aptos Display"/>
                <a:cs typeface="Aptos Display"/>
              </a:defRPr>
            </a:pPr>
            <a:r>
              <a:rPr sz="2025" b="1" i="0">
                <a:solidFill>
                  <a:srgbClr val="162A3C"/>
                </a:solidFill>
                <a:latin typeface="Aptos Display"/>
                <a:ea typeface="Aptos Display"/>
                <a:cs typeface="Aptos Display"/>
              </a:rPr>
              <a:t>Assessment</a:t>
            </a:r>
          </a:p>
        </p:txBody>
      </p:sp>
      <p:sp>
        <p:nvSpPr>
          <p:cNvPr id="12" name="loop-node-sub-1">
            <a:extLst xmlns:a="http://schemas.openxmlformats.org/drawingml/2006/main">
              <a:ext uri="{FF2B5EF4-FFF2-40B4-BE49-F238E27FC236}">
                <a16:creationId xmlns:a16="http://schemas.microsoft.com/office/drawing/2014/main" id="{E7DCDD87-85E0-4F7E-A0C1-DE9157049E40}"/>
              </a:ext>
            </a:extLst>
          </p:cNvPr>
          <p:cNvSpPr>
            <a:spLocks xmlns:a="http://schemas.openxmlformats.org/drawingml/2006/main" noGrp="1"/>
          </p:cNvSpPr>
          <p:nvPr/>
        </p:nvSpPr>
        <p:spPr>
          <a:xfrm xmlns:a="http://schemas.openxmlformats.org/drawingml/2006/main">
            <a:off x="2800350" y="2781300"/>
            <a:ext cx="1771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5B6670"/>
                </a:solidFill>
                <a:latin typeface="Aptos"/>
                <a:ea typeface="Aptos"/>
                <a:cs typeface="Aptos"/>
              </a:defRPr>
            </a:pPr>
            <a:r>
              <a:rPr sz="1275" b="0" i="0">
                <a:solidFill>
                  <a:srgbClr val="5B6670"/>
                </a:solidFill>
                <a:latin typeface="Aptos"/>
                <a:ea typeface="Aptos"/>
                <a:cs typeface="Aptos"/>
              </a:rPr>
              <a:t>met / not met + evidence</a:t>
            </a:r>
          </a:p>
        </p:txBody>
      </p:sp>
      <p:sp>
        <p:nvSpPr>
          <p:cNvPr id="13" name="loop-node-2">
            <a:extLst xmlns:a="http://schemas.openxmlformats.org/drawingml/2006/main">
              <a:ext uri="{FF2B5EF4-FFF2-40B4-BE49-F238E27FC236}">
                <a16:creationId xmlns:a16="http://schemas.microsoft.com/office/drawing/2014/main" id="{A969FB0A-D867-4A02-8380-C6C64D2473BA}"/>
              </a:ext>
            </a:extLst>
          </p:cNvPr>
          <p:cNvSpPr>
            <a:spLocks xmlns:a="http://schemas.openxmlformats.org/drawingml/2006/main" noGrp="1"/>
          </p:cNvSpPr>
          <p:nvPr/>
        </p:nvSpPr>
        <p:spPr>
          <a:xfrm xmlns:a="http://schemas.openxmlformats.org/drawingml/2006/main">
            <a:off x="5105400" y="2076450"/>
            <a:ext cx="2000250" cy="1143000"/>
          </a:xfrm>
          <a:prstGeom xmlns:a="http://schemas.openxmlformats.org/drawingml/2006/main" prst="roundRect">
            <a:avLst>
              <a:gd name="adj" fmla="val 16667"/>
            </a:avLst>
          </a:prstGeom>
          <a:solidFill xmlns:a="http://schemas.openxmlformats.org/drawingml/2006/main">
            <a:srgbClr val="F1DDCB"/>
          </a:solidFill>
          <a:ln xmlns:a="http://schemas.openxmlformats.org/drawingml/2006/main" w="0">
            <a:solidFill>
              <a:srgbClr val="000000">
                <a:alpha val="0"/>
              </a:srgbClr>
            </a:solidFill>
            <a:prstDash val="solid"/>
          </a:ln>
        </p:spPr>
      </p:sp>
      <p:sp>
        <p:nvSpPr>
          <p:cNvPr id="14" name="loop-node-label-2">
            <a:extLst xmlns:a="http://schemas.openxmlformats.org/drawingml/2006/main">
              <a:ext uri="{FF2B5EF4-FFF2-40B4-BE49-F238E27FC236}">
                <a16:creationId xmlns:a16="http://schemas.microsoft.com/office/drawing/2014/main" id="{A8996BBE-51A2-4FD4-BE70-C6D7F01E67F4}"/>
              </a:ext>
            </a:extLst>
          </p:cNvPr>
          <p:cNvSpPr>
            <a:spLocks xmlns:a="http://schemas.openxmlformats.org/drawingml/2006/main" noGrp="1"/>
          </p:cNvSpPr>
          <p:nvPr/>
        </p:nvSpPr>
        <p:spPr>
          <a:xfrm xmlns:a="http://schemas.openxmlformats.org/drawingml/2006/main">
            <a:off x="5257800" y="2305050"/>
            <a:ext cx="169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162A3C"/>
                </a:solidFill>
                <a:latin typeface="Aptos Display"/>
                <a:ea typeface="Aptos Display"/>
                <a:cs typeface="Aptos Display"/>
              </a:defRPr>
            </a:pPr>
            <a:r>
              <a:rPr sz="2025" b="1" i="0">
                <a:solidFill>
                  <a:srgbClr val="162A3C"/>
                </a:solidFill>
                <a:latin typeface="Aptos Display"/>
                <a:ea typeface="Aptos Display"/>
                <a:cs typeface="Aptos Display"/>
              </a:rPr>
              <a:t>Feedback</a:t>
            </a:r>
          </a:p>
        </p:txBody>
      </p:sp>
      <p:sp>
        <p:nvSpPr>
          <p:cNvPr id="15" name="loop-node-sub-2">
            <a:extLst xmlns:a="http://schemas.openxmlformats.org/drawingml/2006/main">
              <a:ext uri="{FF2B5EF4-FFF2-40B4-BE49-F238E27FC236}">
                <a16:creationId xmlns:a16="http://schemas.microsoft.com/office/drawing/2014/main" id="{B675470D-A137-4BE6-9EF8-B461ABA5983D}"/>
              </a:ext>
            </a:extLst>
          </p:cNvPr>
          <p:cNvSpPr>
            <a:spLocks xmlns:a="http://schemas.openxmlformats.org/drawingml/2006/main" noGrp="1"/>
          </p:cNvSpPr>
          <p:nvPr/>
        </p:nvSpPr>
        <p:spPr>
          <a:xfrm xmlns:a="http://schemas.openxmlformats.org/drawingml/2006/main">
            <a:off x="5219700" y="2781300"/>
            <a:ext cx="1771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5B6670"/>
                </a:solidFill>
                <a:latin typeface="Aptos"/>
                <a:ea typeface="Aptos"/>
                <a:cs typeface="Aptos"/>
              </a:defRPr>
            </a:pPr>
            <a:r>
              <a:rPr sz="1275" b="0" i="0">
                <a:solidFill>
                  <a:srgbClr val="5B6670"/>
                </a:solidFill>
                <a:latin typeface="Aptos"/>
                <a:ea typeface="Aptos"/>
                <a:cs typeface="Aptos"/>
              </a:rPr>
              <a:t>coaching + next move</a:t>
            </a:r>
          </a:p>
        </p:txBody>
      </p:sp>
      <p:sp>
        <p:nvSpPr>
          <p:cNvPr id="16" name="loop-node-3">
            <a:extLst xmlns:a="http://schemas.openxmlformats.org/drawingml/2006/main">
              <a:ext uri="{FF2B5EF4-FFF2-40B4-BE49-F238E27FC236}">
                <a16:creationId xmlns:a16="http://schemas.microsoft.com/office/drawing/2014/main" id="{E50DD976-D56E-43EA-B2D8-A398EF4F659B}"/>
              </a:ext>
            </a:extLst>
          </p:cNvPr>
          <p:cNvSpPr>
            <a:spLocks xmlns:a="http://schemas.openxmlformats.org/drawingml/2006/main" noGrp="1"/>
          </p:cNvSpPr>
          <p:nvPr/>
        </p:nvSpPr>
        <p:spPr>
          <a:xfrm xmlns:a="http://schemas.openxmlformats.org/drawingml/2006/main">
            <a:off x="7524750" y="2076450"/>
            <a:ext cx="1524000" cy="1143000"/>
          </a:xfrm>
          <a:prstGeom xmlns:a="http://schemas.openxmlformats.org/drawingml/2006/main" prst="roundRect">
            <a:avLst>
              <a:gd name="adj" fmla="val 16667"/>
            </a:avLst>
          </a:prstGeom>
          <a:solidFill xmlns:a="http://schemas.openxmlformats.org/drawingml/2006/main">
            <a:srgbClr val="DCE8E3"/>
          </a:solidFill>
          <a:ln xmlns:a="http://schemas.openxmlformats.org/drawingml/2006/main" w="0">
            <a:solidFill>
              <a:srgbClr val="000000">
                <a:alpha val="0"/>
              </a:srgbClr>
            </a:solidFill>
            <a:prstDash val="solid"/>
          </a:ln>
        </p:spPr>
      </p:sp>
      <p:sp>
        <p:nvSpPr>
          <p:cNvPr id="17" name="loop-node-label-3">
            <a:extLst xmlns:a="http://schemas.openxmlformats.org/drawingml/2006/main">
              <a:ext uri="{FF2B5EF4-FFF2-40B4-BE49-F238E27FC236}">
                <a16:creationId xmlns:a16="http://schemas.microsoft.com/office/drawing/2014/main" id="{619F8DB6-EE00-4359-B0E1-4313C8ED4434}"/>
              </a:ext>
            </a:extLst>
          </p:cNvPr>
          <p:cNvSpPr>
            <a:spLocks xmlns:a="http://schemas.openxmlformats.org/drawingml/2006/main" noGrp="1"/>
          </p:cNvSpPr>
          <p:nvPr/>
        </p:nvSpPr>
        <p:spPr>
          <a:xfrm xmlns:a="http://schemas.openxmlformats.org/drawingml/2006/main">
            <a:off x="7677150" y="2305050"/>
            <a:ext cx="1219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162A3C"/>
                </a:solidFill>
                <a:latin typeface="Aptos Display"/>
                <a:ea typeface="Aptos Display"/>
                <a:cs typeface="Aptos Display"/>
              </a:defRPr>
            </a:pPr>
            <a:r>
              <a:rPr sz="2025" b="1" i="0">
                <a:solidFill>
                  <a:srgbClr val="162A3C"/>
                </a:solidFill>
                <a:latin typeface="Aptos Display"/>
                <a:ea typeface="Aptos Display"/>
                <a:cs typeface="Aptos Display"/>
              </a:rPr>
              <a:t>Retry</a:t>
            </a:r>
          </a:p>
        </p:txBody>
      </p:sp>
      <p:sp>
        <p:nvSpPr>
          <p:cNvPr id="18" name="loop-node-sub-3">
            <a:extLst xmlns:a="http://schemas.openxmlformats.org/drawingml/2006/main">
              <a:ext uri="{FF2B5EF4-FFF2-40B4-BE49-F238E27FC236}">
                <a16:creationId xmlns:a16="http://schemas.microsoft.com/office/drawing/2014/main" id="{C48CEFF9-E7BC-4BF1-B8C1-8CA4E287E86A}"/>
              </a:ext>
            </a:extLst>
          </p:cNvPr>
          <p:cNvSpPr>
            <a:spLocks xmlns:a="http://schemas.openxmlformats.org/drawingml/2006/main" noGrp="1"/>
          </p:cNvSpPr>
          <p:nvPr/>
        </p:nvSpPr>
        <p:spPr>
          <a:xfrm xmlns:a="http://schemas.openxmlformats.org/drawingml/2006/main">
            <a:off x="7639050" y="2781300"/>
            <a:ext cx="1295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5B6670"/>
                </a:solidFill>
                <a:latin typeface="Aptos"/>
                <a:ea typeface="Aptos"/>
                <a:cs typeface="Aptos"/>
              </a:defRPr>
            </a:pPr>
            <a:r>
              <a:rPr sz="1275" b="0" i="0">
                <a:solidFill>
                  <a:srgbClr val="5B6670"/>
                </a:solidFill>
                <a:latin typeface="Aptos"/>
                <a:ea typeface="Aptos"/>
                <a:cs typeface="Aptos"/>
              </a:rPr>
              <a:t>while fresh</a:t>
            </a:r>
          </a:p>
        </p:txBody>
      </p:sp>
      <p:sp>
        <p:nvSpPr>
          <p:cNvPr id="19" name="loop-node-4">
            <a:extLst xmlns:a="http://schemas.openxmlformats.org/drawingml/2006/main">
              <a:ext uri="{FF2B5EF4-FFF2-40B4-BE49-F238E27FC236}">
                <a16:creationId xmlns:a16="http://schemas.microsoft.com/office/drawing/2014/main" id="{3DA8F447-0D69-49F0-A85A-36BE1AD8CA7A}"/>
              </a:ext>
            </a:extLst>
          </p:cNvPr>
          <p:cNvSpPr>
            <a:spLocks xmlns:a="http://schemas.openxmlformats.org/drawingml/2006/main" noGrp="1"/>
          </p:cNvSpPr>
          <p:nvPr/>
        </p:nvSpPr>
        <p:spPr>
          <a:xfrm xmlns:a="http://schemas.openxmlformats.org/drawingml/2006/main">
            <a:off x="9467850" y="2076450"/>
            <a:ext cx="2076450" cy="1143000"/>
          </a:xfrm>
          <a:prstGeom xmlns:a="http://schemas.openxmlformats.org/drawingml/2006/main" prst="roundRect">
            <a:avLst>
              <a:gd name="adj" fmla="val 16667"/>
            </a:avLst>
          </a:prstGeom>
          <a:solidFill xmlns:a="http://schemas.openxmlformats.org/drawingml/2006/main">
            <a:srgbClr val="162A3C"/>
          </a:solidFill>
          <a:ln xmlns:a="http://schemas.openxmlformats.org/drawingml/2006/main" w="0">
            <a:solidFill>
              <a:srgbClr val="000000">
                <a:alpha val="0"/>
              </a:srgbClr>
            </a:solidFill>
            <a:prstDash val="solid"/>
          </a:ln>
        </p:spPr>
      </p:sp>
      <p:sp>
        <p:nvSpPr>
          <p:cNvPr id="20" name="loop-node-label-4">
            <a:extLst xmlns:a="http://schemas.openxmlformats.org/drawingml/2006/main">
              <a:ext uri="{FF2B5EF4-FFF2-40B4-BE49-F238E27FC236}">
                <a16:creationId xmlns:a16="http://schemas.microsoft.com/office/drawing/2014/main" id="{6F72745F-DE6D-4DA3-8A50-2919316F94A9}"/>
              </a:ext>
            </a:extLst>
          </p:cNvPr>
          <p:cNvSpPr>
            <a:spLocks xmlns:a="http://schemas.openxmlformats.org/drawingml/2006/main" noGrp="1"/>
          </p:cNvSpPr>
          <p:nvPr/>
        </p:nvSpPr>
        <p:spPr>
          <a:xfrm xmlns:a="http://schemas.openxmlformats.org/drawingml/2006/main">
            <a:off x="9620250" y="2305050"/>
            <a:ext cx="1771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FFFFFF"/>
                </a:solidFill>
                <a:latin typeface="Aptos Display"/>
                <a:ea typeface="Aptos Display"/>
                <a:cs typeface="Aptos Display"/>
              </a:defRPr>
            </a:pPr>
            <a:r>
              <a:rPr sz="2025" b="1" i="0">
                <a:solidFill>
                  <a:srgbClr val="FFFFFF"/>
                </a:solidFill>
                <a:latin typeface="Aptos Display"/>
                <a:ea typeface="Aptos Display"/>
                <a:cs typeface="Aptos Display"/>
              </a:rPr>
              <a:t>Comparison</a:t>
            </a:r>
          </a:p>
        </p:txBody>
      </p:sp>
      <p:sp>
        <p:nvSpPr>
          <p:cNvPr id="21" name="loop-node-sub-4">
            <a:extLst xmlns:a="http://schemas.openxmlformats.org/drawingml/2006/main">
              <a:ext uri="{FF2B5EF4-FFF2-40B4-BE49-F238E27FC236}">
                <a16:creationId xmlns:a16="http://schemas.microsoft.com/office/drawing/2014/main" id="{9488549E-EA4F-4F53-8249-1D8924A3DBA4}"/>
              </a:ext>
            </a:extLst>
          </p:cNvPr>
          <p:cNvSpPr>
            <a:spLocks xmlns:a="http://schemas.openxmlformats.org/drawingml/2006/main" noGrp="1"/>
          </p:cNvSpPr>
          <p:nvPr/>
        </p:nvSpPr>
        <p:spPr>
          <a:xfrm xmlns:a="http://schemas.openxmlformats.org/drawingml/2006/main">
            <a:off x="9582150" y="2781300"/>
            <a:ext cx="1847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DDE6EB"/>
                </a:solidFill>
                <a:latin typeface="Aptos"/>
                <a:ea typeface="Aptos"/>
                <a:cs typeface="Aptos"/>
              </a:defRPr>
            </a:pPr>
            <a:r>
              <a:rPr sz="1275" b="0" i="0">
                <a:solidFill>
                  <a:srgbClr val="DDE6EB"/>
                </a:solidFill>
                <a:latin typeface="Aptos"/>
                <a:ea typeface="Aptos"/>
                <a:cs typeface="Aptos"/>
              </a:rPr>
              <a:t>Previous / This</a:t>
            </a:r>
          </a:p>
        </p:txBody>
      </p:sp>
      <p:sp>
        <p:nvSpPr>
          <p:cNvPr id="22" name="loop-lower-rule">
            <a:extLst xmlns:a="http://schemas.openxmlformats.org/drawingml/2006/main">
              <a:ext uri="{FF2B5EF4-FFF2-40B4-BE49-F238E27FC236}">
                <a16:creationId xmlns:a16="http://schemas.microsoft.com/office/drawing/2014/main" id="{999045A6-024B-4370-8B9A-DD28E44A5FA6}"/>
              </a:ext>
            </a:extLst>
          </p:cNvPr>
          <p:cNvSpPr>
            <a:spLocks xmlns:a="http://schemas.openxmlformats.org/drawingml/2006/main" noGrp="1"/>
          </p:cNvSpPr>
          <p:nvPr/>
        </p:nvSpPr>
        <p:spPr>
          <a:xfrm xmlns:a="http://schemas.openxmlformats.org/drawingml/2006/main">
            <a:off x="685800" y="3638550"/>
            <a:ext cx="10820400"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23" name="loop-assessment-job">
            <a:extLst xmlns:a="http://schemas.openxmlformats.org/drawingml/2006/main">
              <a:ext uri="{FF2B5EF4-FFF2-40B4-BE49-F238E27FC236}">
                <a16:creationId xmlns:a16="http://schemas.microsoft.com/office/drawing/2014/main" id="{D26EE2A0-76D0-48A5-ADC7-2FBC47244FCF}"/>
              </a:ext>
            </a:extLst>
          </p:cNvPr>
          <p:cNvSpPr>
            <a:spLocks xmlns:a="http://schemas.openxmlformats.org/drawingml/2006/main" noGrp="1"/>
          </p:cNvSpPr>
          <p:nvPr/>
        </p:nvSpPr>
        <p:spPr>
          <a:xfrm xmlns:a="http://schemas.openxmlformats.org/drawingml/2006/main">
            <a:off x="685800" y="3943350"/>
            <a:ext cx="304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6F6B"/>
                </a:solidFill>
                <a:latin typeface="Aptos"/>
                <a:ea typeface="Aptos"/>
                <a:cs typeface="Aptos"/>
              </a:defRPr>
            </a:pPr>
            <a:r>
              <a:rPr sz="1800" b="1" i="0">
                <a:solidFill>
                  <a:srgbClr val="2D6F6B"/>
                </a:solidFill>
                <a:latin typeface="Aptos"/>
                <a:ea typeface="Aptos"/>
                <a:cs typeface="Aptos"/>
              </a:rPr>
              <a:t>Assessment decides</a:t>
            </a:r>
          </a:p>
        </p:txBody>
      </p:sp>
      <p:sp>
        <p:nvSpPr>
          <p:cNvPr id="24" name="loop-assessment-copy">
            <a:extLst xmlns:a="http://schemas.openxmlformats.org/drawingml/2006/main">
              <a:ext uri="{FF2B5EF4-FFF2-40B4-BE49-F238E27FC236}">
                <a16:creationId xmlns:a16="http://schemas.microsoft.com/office/drawing/2014/main" id="{46C01A75-46E6-44EA-9E48-0FDA5B8BA4CF}"/>
              </a:ext>
            </a:extLst>
          </p:cNvPr>
          <p:cNvSpPr>
            <a:spLocks xmlns:a="http://schemas.openxmlformats.org/drawingml/2006/main" noGrp="1"/>
          </p:cNvSpPr>
          <p:nvPr/>
        </p:nvSpPr>
        <p:spPr>
          <a:xfrm xmlns:a="http://schemas.openxmlformats.org/drawingml/2006/main">
            <a:off x="685800" y="4400550"/>
            <a:ext cx="3048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7222F"/>
                </a:solidFill>
                <a:latin typeface="Aptos"/>
                <a:ea typeface="Aptos"/>
                <a:cs typeface="Aptos"/>
              </a:defRPr>
            </a:pPr>
            <a:r>
              <a:rPr sz="1500" b="0" i="0">
                <a:solidFill>
                  <a:srgbClr val="17222F"/>
                </a:solidFill>
                <a:latin typeface="Aptos"/>
                <a:ea typeface="Aptos"/>
                <a:cs typeface="Aptos"/>
              </a:rPr>
              <a:t>A structurally isolated context applies the fixed Rubric and returns exact Transcript evidence.</a:t>
            </a:r>
          </a:p>
        </p:txBody>
      </p:sp>
      <p:sp>
        <p:nvSpPr>
          <p:cNvPr id="25" name="loop-lower-divider-1">
            <a:extLst xmlns:a="http://schemas.openxmlformats.org/drawingml/2006/main">
              <a:ext uri="{FF2B5EF4-FFF2-40B4-BE49-F238E27FC236}">
                <a16:creationId xmlns:a16="http://schemas.microsoft.com/office/drawing/2014/main" id="{5867A56A-45E4-4F92-BF0D-A116522DC049}"/>
              </a:ext>
            </a:extLst>
          </p:cNvPr>
          <p:cNvSpPr>
            <a:spLocks xmlns:a="http://schemas.openxmlformats.org/drawingml/2006/main" noGrp="1"/>
          </p:cNvSpPr>
          <p:nvPr/>
        </p:nvSpPr>
        <p:spPr>
          <a:xfrm xmlns:a="http://schemas.openxmlformats.org/drawingml/2006/main">
            <a:off x="4038600" y="3943350"/>
            <a:ext cx="0" cy="152400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26" name="loop-feedback-job">
            <a:extLst xmlns:a="http://schemas.openxmlformats.org/drawingml/2006/main">
              <a:ext uri="{FF2B5EF4-FFF2-40B4-BE49-F238E27FC236}">
                <a16:creationId xmlns:a16="http://schemas.microsoft.com/office/drawing/2014/main" id="{355E76E1-1711-41D9-972C-DB8806794639}"/>
              </a:ext>
            </a:extLst>
          </p:cNvPr>
          <p:cNvSpPr>
            <a:spLocks xmlns:a="http://schemas.openxmlformats.org/drawingml/2006/main" noGrp="1"/>
          </p:cNvSpPr>
          <p:nvPr/>
        </p:nvSpPr>
        <p:spPr>
          <a:xfrm xmlns:a="http://schemas.openxmlformats.org/drawingml/2006/main">
            <a:off x="4438650" y="3943350"/>
            <a:ext cx="304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7A42"/>
                </a:solidFill>
                <a:latin typeface="Aptos"/>
                <a:ea typeface="Aptos"/>
                <a:cs typeface="Aptos"/>
              </a:defRPr>
            </a:pPr>
            <a:r>
              <a:rPr sz="1800" b="1" i="0">
                <a:solidFill>
                  <a:srgbClr val="C57A42"/>
                </a:solidFill>
                <a:latin typeface="Aptos"/>
                <a:ea typeface="Aptos"/>
                <a:cs typeface="Aptos"/>
              </a:rPr>
              <a:t>Feedback coaches</a:t>
            </a:r>
          </a:p>
        </p:txBody>
      </p:sp>
      <p:sp>
        <p:nvSpPr>
          <p:cNvPr id="27" name="loop-feedback-copy">
            <a:extLst xmlns:a="http://schemas.openxmlformats.org/drawingml/2006/main">
              <a:ext uri="{FF2B5EF4-FFF2-40B4-BE49-F238E27FC236}">
                <a16:creationId xmlns:a16="http://schemas.microsoft.com/office/drawing/2014/main" id="{B2B86478-A65D-47A4-B304-B2E6F253BECD}"/>
              </a:ext>
            </a:extLst>
          </p:cNvPr>
          <p:cNvSpPr>
            <a:spLocks xmlns:a="http://schemas.openxmlformats.org/drawingml/2006/main" noGrp="1"/>
          </p:cNvSpPr>
          <p:nvPr/>
        </p:nvSpPr>
        <p:spPr>
          <a:xfrm xmlns:a="http://schemas.openxmlformats.org/drawingml/2006/main">
            <a:off x="4438650" y="4400550"/>
            <a:ext cx="3048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7222F"/>
                </a:solidFill>
                <a:latin typeface="Aptos"/>
                <a:ea typeface="Aptos"/>
                <a:cs typeface="Aptos"/>
              </a:defRPr>
            </a:pPr>
            <a:r>
              <a:rPr sz="1500" b="0" i="0">
                <a:solidFill>
                  <a:srgbClr val="17222F"/>
                </a:solidFill>
                <a:latin typeface="Aptos"/>
                <a:ea typeface="Aptos"/>
                <a:cs typeface="Aptos"/>
              </a:rPr>
              <a:t>A separate step translates fixed verdicts into direct coaching. It cannot revise the Assessment.</a:t>
            </a:r>
          </a:p>
        </p:txBody>
      </p:sp>
      <p:sp>
        <p:nvSpPr>
          <p:cNvPr id="28" name="loop-lower-divider-2">
            <a:extLst xmlns:a="http://schemas.openxmlformats.org/drawingml/2006/main">
              <a:ext uri="{FF2B5EF4-FFF2-40B4-BE49-F238E27FC236}">
                <a16:creationId xmlns:a16="http://schemas.microsoft.com/office/drawing/2014/main" id="{83CF2EC5-1F30-4F11-8B00-F5C72800D323}"/>
              </a:ext>
            </a:extLst>
          </p:cNvPr>
          <p:cNvSpPr>
            <a:spLocks xmlns:a="http://schemas.openxmlformats.org/drawingml/2006/main" noGrp="1"/>
          </p:cNvSpPr>
          <p:nvPr/>
        </p:nvSpPr>
        <p:spPr>
          <a:xfrm xmlns:a="http://schemas.openxmlformats.org/drawingml/2006/main">
            <a:off x="7791450" y="3943350"/>
            <a:ext cx="0" cy="152400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29" name="loop-isolation">
            <a:extLst xmlns:a="http://schemas.openxmlformats.org/drawingml/2006/main">
              <a:ext uri="{FF2B5EF4-FFF2-40B4-BE49-F238E27FC236}">
                <a16:creationId xmlns:a16="http://schemas.microsoft.com/office/drawing/2014/main" id="{D2B77519-9F5E-4986-B0EB-53168FFE0444}"/>
              </a:ext>
            </a:extLst>
          </p:cNvPr>
          <p:cNvSpPr>
            <a:spLocks xmlns:a="http://schemas.openxmlformats.org/drawingml/2006/main" noGrp="1"/>
          </p:cNvSpPr>
          <p:nvPr/>
        </p:nvSpPr>
        <p:spPr>
          <a:xfrm xmlns:a="http://schemas.openxmlformats.org/drawingml/2006/main">
            <a:off x="8191500" y="3943350"/>
            <a:ext cx="31051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62A3C"/>
                </a:solidFill>
                <a:latin typeface="Aptos Display"/>
                <a:ea typeface="Aptos Display"/>
                <a:cs typeface="Aptos Display"/>
              </a:defRPr>
            </a:pPr>
            <a:r>
              <a:rPr sz="1875" b="1" i="0">
                <a:solidFill>
                  <a:srgbClr val="162A3C"/>
                </a:solidFill>
                <a:latin typeface="Aptos Display"/>
                <a:ea typeface="Aptos Display"/>
                <a:cs typeface="Aptos Display"/>
              </a:rPr>
              <a:t>The Persona never judges the Attempt it participated in.</a:t>
            </a:r>
          </a:p>
        </p:txBody>
      </p:sp>
      <p:sp>
        <p:nvSpPr>
          <p:cNvPr id="30" name="loop-transcript">
            <a:extLst xmlns:a="http://schemas.openxmlformats.org/drawingml/2006/main">
              <a:ext uri="{FF2B5EF4-FFF2-40B4-BE49-F238E27FC236}">
                <a16:creationId xmlns:a16="http://schemas.microsoft.com/office/drawing/2014/main" id="{9F5AD0A8-570B-4101-AAE6-8B3665D6418B}"/>
              </a:ext>
            </a:extLst>
          </p:cNvPr>
          <p:cNvSpPr>
            <a:spLocks xmlns:a="http://schemas.openxmlformats.org/drawingml/2006/main" noGrp="1"/>
          </p:cNvSpPr>
          <p:nvPr/>
        </p:nvSpPr>
        <p:spPr>
          <a:xfrm xmlns:a="http://schemas.openxmlformats.org/drawingml/2006/main">
            <a:off x="8191500" y="4895850"/>
            <a:ext cx="3105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B6670"/>
                </a:solidFill>
                <a:latin typeface="Aptos"/>
                <a:ea typeface="Aptos"/>
                <a:cs typeface="Aptos"/>
              </a:defRPr>
            </a:pPr>
            <a:r>
              <a:rPr sz="1500" b="0" i="0">
                <a:solidFill>
                  <a:srgbClr val="5B6670"/>
                </a:solidFill>
                <a:latin typeface="Aptos"/>
                <a:ea typeface="Aptos"/>
                <a:cs typeface="Aptos"/>
              </a:rPr>
              <a:t>The Transcript is reconstructed text—not a recording.</a:t>
            </a:r>
          </a:p>
        </p:txBody>
      </p:sp>
      <p:sp>
        <p:nvSpPr>
          <p:cNvPr id="31" name="slide-5-footer-number">
            <a:extLst xmlns:a="http://schemas.openxmlformats.org/drawingml/2006/main">
              <a:ext uri="{FF2B5EF4-FFF2-40B4-BE49-F238E27FC236}">
                <a16:creationId xmlns:a16="http://schemas.microsoft.com/office/drawing/2014/main" id="{8EE20117-FC4A-4546-B697-942E175DC422}"/>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05</a:t>
            </a:r>
          </a:p>
        </p:txBody>
      </p:sp>
    </p:spTree>
    <p:extLst>
      <p:ext uri="{BB962C8B-B14F-4D97-AF65-F5344CB8AC3E}">
        <p14:creationId xmlns:p14="http://schemas.microsoft.com/office/powerpoint/2010/main" val="1885902602"/>
      </p:ext>
    </p:extLst>
  </p:cSld>
</p:sld>
</file>

<file path=ppt/slides/slide6.xml><?xml version="1.0" encoding="utf-8"?>
<p:sld xmlns:p="http://schemas.openxmlformats.org/presentationml/2006/main">
  <p:cSld>
    <p:bg>
      <p:bgPr>
        <a:solidFill xmlns:a="http://schemas.openxmlformats.org/drawingml/2006/main">
          <a:srgbClr val="162A3C"/>
        </a:solidFill>
      </p:bgPr>
    </p:bg>
    <p:spTree>
      <p:nvGrpSpPr>
        <p:cNvPr id="1" name=""/>
        <p:cNvGrpSpPr/>
        <p:nvPr/>
      </p:nvGrpSpPr>
      <p:grpSpPr>
        <a:xfrm xmlns:a="http://schemas.openxmlformats.org/drawingml/2006/main"/>
      </p:grpSpPr>
      <p:sp>
        <p:nvSpPr>
          <p:cNvPr id="11" name="demo-eyebrow">
            <a:extLst xmlns:a="http://schemas.openxmlformats.org/drawingml/2006/main">
              <a:ext uri="{FF2B5EF4-FFF2-40B4-BE49-F238E27FC236}">
                <a16:creationId xmlns:a16="http://schemas.microsoft.com/office/drawing/2014/main" id="{E47EC5CE-1A99-46A7-8E35-FB0A56114298}"/>
              </a:ext>
            </a:extLst>
          </p:cNvPr>
          <p:cNvSpPr>
            <a:spLocks xmlns:a="http://schemas.openxmlformats.org/drawingml/2006/main" noGrp="1"/>
          </p:cNvSpPr>
          <p:nvPr/>
        </p:nvSpPr>
        <p:spPr>
          <a:xfrm xmlns:a="http://schemas.openxmlformats.org/drawingml/2006/main">
            <a:off x="685800" y="590550"/>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F1DDCB"/>
                </a:solidFill>
                <a:latin typeface="Aptos"/>
                <a:ea typeface="Aptos"/>
                <a:cs typeface="Aptos"/>
              </a:defRPr>
            </a:pPr>
            <a:r>
              <a:rPr sz="1425" b="1" i="0">
                <a:solidFill>
                  <a:srgbClr val="F1DDCB"/>
                </a:solidFill>
                <a:latin typeface="Aptos"/>
                <a:ea typeface="Aptos"/>
                <a:cs typeface="Aptos"/>
              </a:rPr>
              <a:t>LIVE DEMONSTRATION</a:t>
            </a:r>
          </a:p>
        </p:txBody>
      </p:sp>
      <p:sp>
        <p:nvSpPr>
          <p:cNvPr id="2" name="demo-title">
            <a:extLst xmlns:a="http://schemas.openxmlformats.org/drawingml/2006/main">
              <a:ext uri="{FF2B5EF4-FFF2-40B4-BE49-F238E27FC236}">
                <a16:creationId xmlns:a16="http://schemas.microsoft.com/office/drawing/2014/main" id="{5EBCE499-6BE4-45CD-B305-D5628561430C}"/>
              </a:ext>
            </a:extLst>
          </p:cNvPr>
          <p:cNvSpPr>
            <a:spLocks xmlns:a="http://schemas.openxmlformats.org/drawingml/2006/main" noGrp="1"/>
          </p:cNvSpPr>
          <p:nvPr/>
        </p:nvSpPr>
        <p:spPr>
          <a:xfrm xmlns:a="http://schemas.openxmlformats.org/drawingml/2006/main">
            <a:off x="685800" y="1104900"/>
            <a:ext cx="10287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Solving before understanding</a:t>
            </a:r>
          </a:p>
          <a:p xmlns:a="http://schemas.openxmlformats.org/drawingml/2006/main">
            <a:pPr algn="l">
              <a:lnSpc>
                <a:spcPct val="90000"/>
              </a:lnSpc>
              <a:buNone/>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versus staying curious</a:t>
            </a:r>
          </a:p>
        </p:txBody>
      </p:sp>
      <p:sp>
        <p:nvSpPr>
          <p:cNvPr id="3" name="demo-divider">
            <a:extLst xmlns:a="http://schemas.openxmlformats.org/drawingml/2006/main">
              <a:ext uri="{FF2B5EF4-FFF2-40B4-BE49-F238E27FC236}">
                <a16:creationId xmlns:a16="http://schemas.microsoft.com/office/drawing/2014/main" id="{205E887B-C224-4478-90F0-E984BB238C53}"/>
              </a:ext>
            </a:extLst>
          </p:cNvPr>
          <p:cNvSpPr>
            <a:spLocks xmlns:a="http://schemas.openxmlformats.org/drawingml/2006/main" noGrp="1"/>
          </p:cNvSpPr>
          <p:nvPr/>
        </p:nvSpPr>
        <p:spPr>
          <a:xfrm xmlns:a="http://schemas.openxmlformats.org/drawingml/2006/main">
            <a:off x="6076950" y="2895600"/>
            <a:ext cx="0" cy="152400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536574"/>
            </a:solidFill>
            <a:prstDash val="solid"/>
          </a:ln>
        </p:spPr>
      </p:sp>
      <p:sp>
        <p:nvSpPr>
          <p:cNvPr id="4" name="demo-left">
            <a:extLst xmlns:a="http://schemas.openxmlformats.org/drawingml/2006/main">
              <a:ext uri="{FF2B5EF4-FFF2-40B4-BE49-F238E27FC236}">
                <a16:creationId xmlns:a16="http://schemas.microsoft.com/office/drawing/2014/main" id="{F8396C15-D7F6-4E80-8ED7-1DF0FDAB4CFE}"/>
              </a:ext>
            </a:extLst>
          </p:cNvPr>
          <p:cNvSpPr>
            <a:spLocks xmlns:a="http://schemas.openxmlformats.org/drawingml/2006/main" noGrp="1"/>
          </p:cNvSpPr>
          <p:nvPr/>
        </p:nvSpPr>
        <p:spPr>
          <a:xfrm xmlns:a="http://schemas.openxmlformats.org/drawingml/2006/main">
            <a:off x="1238250" y="3028950"/>
            <a:ext cx="4000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1DDCB"/>
                </a:solidFill>
                <a:latin typeface="Aptos"/>
                <a:ea typeface="Aptos"/>
                <a:cs typeface="Aptos"/>
              </a:defRPr>
            </a:pPr>
            <a:r>
              <a:rPr sz="1800" b="1" i="0">
                <a:solidFill>
                  <a:srgbClr val="F1DDCB"/>
                </a:solidFill>
                <a:latin typeface="Aptos"/>
                <a:ea typeface="Aptos"/>
                <a:cs typeface="Aptos"/>
              </a:rPr>
              <a:t>SOLVE FIRST</a:t>
            </a:r>
          </a:p>
        </p:txBody>
      </p:sp>
      <p:sp>
        <p:nvSpPr>
          <p:cNvPr id="5" name="demo-left-line">
            <a:extLst xmlns:a="http://schemas.openxmlformats.org/drawingml/2006/main">
              <a:ext uri="{FF2B5EF4-FFF2-40B4-BE49-F238E27FC236}">
                <a16:creationId xmlns:a16="http://schemas.microsoft.com/office/drawing/2014/main" id="{E52226F8-61E9-46C6-A75C-289521CC6240}"/>
              </a:ext>
            </a:extLst>
          </p:cNvPr>
          <p:cNvSpPr>
            <a:spLocks xmlns:a="http://schemas.openxmlformats.org/drawingml/2006/main" noGrp="1"/>
          </p:cNvSpPr>
          <p:nvPr/>
        </p:nvSpPr>
        <p:spPr>
          <a:xfrm xmlns:a="http://schemas.openxmlformats.org/drawingml/2006/main">
            <a:off x="1238250" y="3638550"/>
            <a:ext cx="4000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5000"/>
              </a:lnSpc>
              <a:buNone/>
              <a:defRPr sz="2700" b="1" i="0">
                <a:solidFill>
                  <a:srgbClr val="FFFFFF"/>
                </a:solidFill>
                <a:latin typeface="Aptos Display"/>
                <a:ea typeface="Aptos Display"/>
                <a:cs typeface="Aptos Display"/>
              </a:defRPr>
            </a:pPr>
            <a:r>
              <a:rPr sz="2700" b="1" i="0">
                <a:solidFill>
                  <a:srgbClr val="FFFFFF"/>
                </a:solidFill>
                <a:latin typeface="Aptos Display"/>
                <a:ea typeface="Aptos Display"/>
                <a:cs typeface="Aptos Display"/>
              </a:rPr>
              <a:t>Offer before learning</a:t>
            </a:r>
          </a:p>
          <a:p xmlns:a="http://schemas.openxmlformats.org/drawingml/2006/main">
            <a:pPr algn="ctr">
              <a:lnSpc>
                <a:spcPct val="95000"/>
              </a:lnSpc>
              <a:buNone/>
              <a:defRPr sz="2700" b="1" i="0">
                <a:solidFill>
                  <a:srgbClr val="FFFFFF"/>
                </a:solidFill>
                <a:latin typeface="Aptos Display"/>
                <a:ea typeface="Aptos Display"/>
                <a:cs typeface="Aptos Display"/>
              </a:defRPr>
            </a:pPr>
            <a:r>
              <a:rPr sz="2700" b="1" i="0">
                <a:solidFill>
                  <a:srgbClr val="FFFFFF"/>
                </a:solidFill>
                <a:latin typeface="Aptos Display"/>
                <a:ea typeface="Aptos Display"/>
                <a:cs typeface="Aptos Display"/>
              </a:rPr>
              <a:t>what happened</a:t>
            </a:r>
          </a:p>
        </p:txBody>
      </p:sp>
      <p:sp>
        <p:nvSpPr>
          <p:cNvPr id="6" name="demo-right">
            <a:extLst xmlns:a="http://schemas.openxmlformats.org/drawingml/2006/main">
              <a:ext uri="{FF2B5EF4-FFF2-40B4-BE49-F238E27FC236}">
                <a16:creationId xmlns:a16="http://schemas.microsoft.com/office/drawing/2014/main" id="{01DD9143-696F-4F6F-B847-6DEF8B555688}"/>
              </a:ext>
            </a:extLst>
          </p:cNvPr>
          <p:cNvSpPr>
            <a:spLocks xmlns:a="http://schemas.openxmlformats.org/drawingml/2006/main" noGrp="1"/>
          </p:cNvSpPr>
          <p:nvPr/>
        </p:nvSpPr>
        <p:spPr>
          <a:xfrm xmlns:a="http://schemas.openxmlformats.org/drawingml/2006/main">
            <a:off x="6953250" y="3028950"/>
            <a:ext cx="4000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DCE8E3"/>
                </a:solidFill>
                <a:latin typeface="Aptos"/>
                <a:ea typeface="Aptos"/>
                <a:cs typeface="Aptos"/>
              </a:defRPr>
            </a:pPr>
            <a:r>
              <a:rPr sz="1800" b="1" i="0">
                <a:solidFill>
                  <a:srgbClr val="DCE8E3"/>
                </a:solidFill>
                <a:latin typeface="Aptos"/>
                <a:ea typeface="Aptos"/>
                <a:cs typeface="Aptos"/>
              </a:rPr>
              <a:t>STAY CURIOUS</a:t>
            </a:r>
          </a:p>
        </p:txBody>
      </p:sp>
      <p:sp>
        <p:nvSpPr>
          <p:cNvPr id="7" name="demo-right-line">
            <a:extLst xmlns:a="http://schemas.openxmlformats.org/drawingml/2006/main">
              <a:ext uri="{FF2B5EF4-FFF2-40B4-BE49-F238E27FC236}">
                <a16:creationId xmlns:a16="http://schemas.microsoft.com/office/drawing/2014/main" id="{A12C1B77-F599-45DE-BA53-55EA6BD9E3BA}"/>
              </a:ext>
            </a:extLst>
          </p:cNvPr>
          <p:cNvSpPr>
            <a:spLocks xmlns:a="http://schemas.openxmlformats.org/drawingml/2006/main" noGrp="1"/>
          </p:cNvSpPr>
          <p:nvPr/>
        </p:nvSpPr>
        <p:spPr>
          <a:xfrm xmlns:a="http://schemas.openxmlformats.org/drawingml/2006/main">
            <a:off x="6953250" y="3638550"/>
            <a:ext cx="4000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5000"/>
              </a:lnSpc>
              <a:buNone/>
              <a:defRPr sz="2700" b="1" i="0">
                <a:solidFill>
                  <a:srgbClr val="FFFFFF"/>
                </a:solidFill>
                <a:latin typeface="Aptos Display"/>
                <a:ea typeface="Aptos Display"/>
                <a:cs typeface="Aptos Display"/>
              </a:defRPr>
            </a:pPr>
            <a:r>
              <a:rPr sz="2700" b="1" i="0">
                <a:solidFill>
                  <a:srgbClr val="FFFFFF"/>
                </a:solidFill>
                <a:latin typeface="Aptos Display"/>
                <a:ea typeface="Aptos Display"/>
                <a:cs typeface="Aptos Display"/>
              </a:rPr>
              <a:t>Invite the story</a:t>
            </a:r>
          </a:p>
          <a:p xmlns:a="http://schemas.openxmlformats.org/drawingml/2006/main">
            <a:pPr algn="ctr">
              <a:lnSpc>
                <a:spcPct val="95000"/>
              </a:lnSpc>
              <a:buNone/>
              <a:defRPr sz="2700" b="1" i="0">
                <a:solidFill>
                  <a:srgbClr val="FFFFFF"/>
                </a:solidFill>
                <a:latin typeface="Aptos Display"/>
                <a:ea typeface="Aptos Display"/>
                <a:cs typeface="Aptos Display"/>
              </a:defRPr>
            </a:pPr>
            <a:r>
              <a:rPr sz="2700" b="1" i="0">
                <a:solidFill>
                  <a:srgbClr val="FFFFFF"/>
                </a:solidFill>
                <a:latin typeface="Aptos Display"/>
                <a:ea typeface="Aptos Display"/>
                <a:cs typeface="Aptos Display"/>
              </a:rPr>
              <a:t>before responding</a:t>
            </a:r>
          </a:p>
        </p:txBody>
      </p:sp>
      <p:sp>
        <p:nvSpPr>
          <p:cNvPr id="8" name="demo-bottom-rule">
            <a:extLst xmlns:a="http://schemas.openxmlformats.org/drawingml/2006/main">
              <a:ext uri="{FF2B5EF4-FFF2-40B4-BE49-F238E27FC236}">
                <a16:creationId xmlns:a16="http://schemas.microsoft.com/office/drawing/2014/main" id="{A593CC0D-D197-4D23-9749-792EAEDEB49B}"/>
              </a:ext>
            </a:extLst>
          </p:cNvPr>
          <p:cNvSpPr>
            <a:spLocks xmlns:a="http://schemas.openxmlformats.org/drawingml/2006/main" noGrp="1"/>
          </p:cNvSpPr>
          <p:nvPr/>
        </p:nvSpPr>
        <p:spPr>
          <a:xfrm xmlns:a="http://schemas.openxmlformats.org/drawingml/2006/main">
            <a:off x="1752600" y="5124450"/>
            <a:ext cx="8686800"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536574"/>
            </a:solidFill>
            <a:prstDash val="solid"/>
          </a:ln>
        </p:spPr>
      </p:sp>
      <p:sp>
        <p:nvSpPr>
          <p:cNvPr id="9" name="demo-watch">
            <a:extLst xmlns:a="http://schemas.openxmlformats.org/drawingml/2006/main">
              <a:ext uri="{FF2B5EF4-FFF2-40B4-BE49-F238E27FC236}">
                <a16:creationId xmlns:a16="http://schemas.microsoft.com/office/drawing/2014/main" id="{1D61F31F-5FAF-4AEF-B9E8-3CD2D14D0B3F}"/>
              </a:ext>
            </a:extLst>
          </p:cNvPr>
          <p:cNvSpPr>
            <a:spLocks xmlns:a="http://schemas.openxmlformats.org/drawingml/2006/main" noGrp="1"/>
          </p:cNvSpPr>
          <p:nvPr/>
        </p:nvSpPr>
        <p:spPr>
          <a:xfrm xmlns:a="http://schemas.openxmlformats.org/drawingml/2006/main">
            <a:off x="1104900" y="5467350"/>
            <a:ext cx="9982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i="0">
                <a:solidFill>
                  <a:srgbClr val="DDE6EB"/>
                </a:solidFill>
                <a:latin typeface="Aptos"/>
                <a:ea typeface="Aptos"/>
                <a:cs typeface="Aptos"/>
              </a:defRPr>
            </a:pPr>
            <a:r>
              <a:rPr sz="1875" b="0" i="0">
                <a:solidFill>
                  <a:srgbClr val="DDE6EB"/>
                </a:solidFill>
                <a:latin typeface="Aptos"/>
                <a:ea typeface="Aptos"/>
                <a:cs typeface="Aptos"/>
              </a:rPr>
              <a:t>Watch what Jordan reveals  ·  what the Gate changes  ·  what the comparison makes visible</a:t>
            </a:r>
          </a:p>
        </p:txBody>
      </p:sp>
      <p:sp>
        <p:nvSpPr>
          <p:cNvPr id="10" name="slide-6-footer-number">
            <a:extLst xmlns:a="http://schemas.openxmlformats.org/drawingml/2006/main">
              <a:ext uri="{FF2B5EF4-FFF2-40B4-BE49-F238E27FC236}">
                <a16:creationId xmlns:a16="http://schemas.microsoft.com/office/drawing/2014/main" id="{6401AF6C-79F5-449D-808D-A264F755F9C8}"/>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A8B7C1"/>
                </a:solidFill>
                <a:latin typeface="Aptos"/>
                <a:ea typeface="Aptos"/>
                <a:cs typeface="Aptos"/>
              </a:defRPr>
            </a:pPr>
            <a:r>
              <a:rPr sz="1200" b="1" i="0">
                <a:solidFill>
                  <a:srgbClr val="A8B7C1"/>
                </a:solidFill>
                <a:latin typeface="Aptos"/>
                <a:ea typeface="Aptos"/>
                <a:cs typeface="Aptos"/>
              </a:rPr>
              <a:t>06</a:t>
            </a:r>
          </a:p>
        </p:txBody>
      </p:sp>
    </p:spTree>
    <p:extLst>
      <p:ext uri="{BB962C8B-B14F-4D97-AF65-F5344CB8AC3E}">
        <p14:creationId xmlns:p14="http://schemas.microsoft.com/office/powerpoint/2010/main" val="1549679801"/>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6" name="slide-7-title">
            <a:extLst xmlns:a="http://schemas.openxmlformats.org/drawingml/2006/main">
              <a:ext uri="{FF2B5EF4-FFF2-40B4-BE49-F238E27FC236}">
                <a16:creationId xmlns:a16="http://schemas.microsoft.com/office/drawing/2014/main" id="{CB07CA2A-99F4-40FE-825C-81CE3ED337C9}"/>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The result is credible because every judgment</a:t>
            </a:r>
          </a:p>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has observable evidence</a:t>
            </a:r>
          </a:p>
        </p:txBody>
      </p:sp>
      <p:sp>
        <p:nvSpPr>
          <p:cNvPr id="2" name="slide-7-top-rule">
            <a:extLst xmlns:a="http://schemas.openxmlformats.org/drawingml/2006/main">
              <a:ext uri="{FF2B5EF4-FFF2-40B4-BE49-F238E27FC236}">
                <a16:creationId xmlns:a16="http://schemas.microsoft.com/office/drawing/2014/main" id="{B8F92E11-137D-4E88-8EC4-EF495D2C1CCA}"/>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result-qualifier">
            <a:extLst xmlns:a="http://schemas.openxmlformats.org/drawingml/2006/main">
              <a:ext uri="{FF2B5EF4-FFF2-40B4-BE49-F238E27FC236}">
                <a16:creationId xmlns:a16="http://schemas.microsoft.com/office/drawing/2014/main" id="{8A357D5E-7F87-463B-A678-60A04A6AFD7F}"/>
              </a:ext>
            </a:extLst>
          </p:cNvPr>
          <p:cNvSpPr>
            <a:spLocks xmlns:a="http://schemas.openxmlformats.org/drawingml/2006/main" noGrp="1"/>
          </p:cNvSpPr>
          <p:nvPr/>
        </p:nvSpPr>
        <p:spPr>
          <a:xfrm xmlns:a="http://schemas.openxmlformats.org/drawingml/2006/main">
            <a:off x="685800" y="15621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5B6670"/>
                </a:solidFill>
                <a:latin typeface="Aptos"/>
                <a:ea typeface="Aptos"/>
                <a:cs typeface="Aptos"/>
              </a:defRPr>
            </a:pPr>
            <a:r>
              <a:rPr sz="1350" b="1" i="0">
                <a:solidFill>
                  <a:srgbClr val="5B6670"/>
                </a:solidFill>
                <a:latin typeface="Aptos"/>
                <a:ea typeface="Aptos"/>
                <a:cs typeface="Aptos"/>
              </a:rPr>
              <a:t>OBSERVED WITHIN ONE PROTOTYPE SCENARIO</a:t>
            </a:r>
          </a:p>
        </p:txBody>
      </p:sp>
      <p:sp>
        <p:nvSpPr>
          <p:cNvPr id="4" name="result-prev-label">
            <a:extLst xmlns:a="http://schemas.openxmlformats.org/drawingml/2006/main">
              <a:ext uri="{FF2B5EF4-FFF2-40B4-BE49-F238E27FC236}">
                <a16:creationId xmlns:a16="http://schemas.microsoft.com/office/drawing/2014/main" id="{0269BFCD-47BE-492B-AD14-8B253F5DF4C8}"/>
              </a:ext>
            </a:extLst>
          </p:cNvPr>
          <p:cNvSpPr>
            <a:spLocks xmlns:a="http://schemas.openxmlformats.org/drawingml/2006/main" noGrp="1"/>
          </p:cNvSpPr>
          <p:nvPr/>
        </p:nvSpPr>
        <p:spPr>
          <a:xfrm xmlns:a="http://schemas.openxmlformats.org/drawingml/2006/main">
            <a:off x="704850" y="2076450"/>
            <a:ext cx="4572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A74A43"/>
                </a:solidFill>
                <a:latin typeface="Aptos"/>
                <a:ea typeface="Aptos"/>
                <a:cs typeface="Aptos"/>
              </a:defRPr>
            </a:pPr>
            <a:r>
              <a:rPr sz="1350" b="1" i="0">
                <a:solidFill>
                  <a:srgbClr val="A74A43"/>
                </a:solidFill>
                <a:latin typeface="Aptos"/>
                <a:ea typeface="Aptos"/>
                <a:cs typeface="Aptos"/>
              </a:rPr>
              <a:t>PREVIOUS ATTEMPT</a:t>
            </a:r>
          </a:p>
        </p:txBody>
      </p:sp>
      <p:sp>
        <p:nvSpPr>
          <p:cNvPr id="5" name="result-prev-score">
            <a:extLst xmlns:a="http://schemas.openxmlformats.org/drawingml/2006/main">
              <a:ext uri="{FF2B5EF4-FFF2-40B4-BE49-F238E27FC236}">
                <a16:creationId xmlns:a16="http://schemas.microsoft.com/office/drawing/2014/main" id="{61B1ADE0-BBD3-4FB2-AB88-DEEE62C9A968}"/>
              </a:ext>
            </a:extLst>
          </p:cNvPr>
          <p:cNvSpPr>
            <a:spLocks xmlns:a="http://schemas.openxmlformats.org/drawingml/2006/main" noGrp="1"/>
          </p:cNvSpPr>
          <p:nvPr/>
        </p:nvSpPr>
        <p:spPr>
          <a:xfrm xmlns:a="http://schemas.openxmlformats.org/drawingml/2006/main">
            <a:off x="685800" y="2400300"/>
            <a:ext cx="2286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i="0">
                <a:solidFill>
                  <a:srgbClr val="A74A43"/>
                </a:solidFill>
                <a:latin typeface="Aptos Display"/>
                <a:ea typeface="Aptos Display"/>
                <a:cs typeface="Aptos Display"/>
              </a:defRPr>
            </a:pPr>
            <a:r>
              <a:rPr sz="5550" b="1" i="0">
                <a:solidFill>
                  <a:srgbClr val="A74A43"/>
                </a:solidFill>
                <a:latin typeface="Aptos Display"/>
                <a:ea typeface="Aptos Display"/>
                <a:cs typeface="Aptos Display"/>
              </a:rPr>
              <a:t>0/6</a:t>
            </a:r>
          </a:p>
        </p:txBody>
      </p:sp>
      <p:sp>
        <p:nvSpPr>
          <p:cNvPr id="6" name="result-prev-quote">
            <a:extLst xmlns:a="http://schemas.openxmlformats.org/drawingml/2006/main">
              <a:ext uri="{FF2B5EF4-FFF2-40B4-BE49-F238E27FC236}">
                <a16:creationId xmlns:a16="http://schemas.microsoft.com/office/drawing/2014/main" id="{11D9B782-8054-4682-B0AE-9E191BB44464}"/>
              </a:ext>
            </a:extLst>
          </p:cNvPr>
          <p:cNvSpPr>
            <a:spLocks xmlns:a="http://schemas.openxmlformats.org/drawingml/2006/main" noGrp="1"/>
          </p:cNvSpPr>
          <p:nvPr/>
        </p:nvSpPr>
        <p:spPr>
          <a:xfrm xmlns:a="http://schemas.openxmlformats.org/drawingml/2006/main">
            <a:off x="685800" y="3486150"/>
            <a:ext cx="4572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325" b="1" i="0">
                <a:solidFill>
                  <a:srgbClr val="162A3C"/>
                </a:solidFill>
                <a:latin typeface="Aptos Display"/>
                <a:ea typeface="Aptos Display"/>
                <a:cs typeface="Aptos Display"/>
              </a:defRPr>
            </a:pPr>
            <a:r>
              <a:rPr sz="2325" b="1" i="0">
                <a:solidFill>
                  <a:srgbClr val="162A3C"/>
                </a:solidFill>
                <a:latin typeface="Aptos Display"/>
                <a:ea typeface="Aptos Display"/>
                <a:cs typeface="Aptos Display"/>
              </a:rPr>
              <a:t>“I can offer you a discount</a:t>
            </a:r>
          </a:p>
          <a:p xmlns:a="http://schemas.openxmlformats.org/drawingml/2006/main">
            <a:pPr algn="l">
              <a:lnSpc>
                <a:spcPct val="95000"/>
              </a:lnSpc>
              <a:buNone/>
              <a:defRPr sz="2325" b="1" i="0">
                <a:solidFill>
                  <a:srgbClr val="162A3C"/>
                </a:solidFill>
                <a:latin typeface="Aptos Display"/>
                <a:ea typeface="Aptos Display"/>
                <a:cs typeface="Aptos Display"/>
              </a:defRPr>
            </a:pPr>
            <a:r>
              <a:rPr sz="2325" b="1" i="0">
                <a:solidFill>
                  <a:srgbClr val="162A3C"/>
                </a:solidFill>
                <a:latin typeface="Aptos Display"/>
                <a:ea typeface="Aptos Display"/>
                <a:cs typeface="Aptos Display"/>
              </a:rPr>
              <a:t>on your next six months.”</a:t>
            </a:r>
          </a:p>
        </p:txBody>
      </p:sp>
      <p:sp>
        <p:nvSpPr>
          <p:cNvPr id="7" name="result-prev-evidence">
            <a:extLst xmlns:a="http://schemas.openxmlformats.org/drawingml/2006/main">
              <a:ext uri="{FF2B5EF4-FFF2-40B4-BE49-F238E27FC236}">
                <a16:creationId xmlns:a16="http://schemas.microsoft.com/office/drawing/2014/main" id="{59085DB6-5549-48D0-9FD5-2FF7A9E425B3}"/>
              </a:ext>
            </a:extLst>
          </p:cNvPr>
          <p:cNvSpPr>
            <a:spLocks xmlns:a="http://schemas.openxmlformats.org/drawingml/2006/main" noGrp="1"/>
          </p:cNvSpPr>
          <p:nvPr/>
        </p:nvSpPr>
        <p:spPr>
          <a:xfrm xmlns:a="http://schemas.openxmlformats.org/drawingml/2006/main">
            <a:off x="685800" y="4572000"/>
            <a:ext cx="4381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B6670"/>
                </a:solidFill>
                <a:latin typeface="Aptos"/>
                <a:ea typeface="Aptos"/>
                <a:cs typeface="Aptos"/>
              </a:defRPr>
            </a:pPr>
            <a:r>
              <a:rPr sz="1500" b="0" i="0">
                <a:solidFill>
                  <a:srgbClr val="5B6670"/>
                </a:solidFill>
                <a:latin typeface="Aptos"/>
                <a:ea typeface="Aptos"/>
                <a:cs typeface="Aptos"/>
              </a:rPr>
              <a:t>Criterion 3 · Not met</a:t>
            </a:r>
          </a:p>
          <a:p xmlns:a="http://schemas.openxmlformats.org/drawingml/2006/main">
            <a:pPr algn="l">
              <a:lnSpc>
                <a:spcPct val="105000"/>
              </a:lnSpc>
              <a:buNone/>
              <a:defRPr sz="1500" b="0" i="0">
                <a:solidFill>
                  <a:srgbClr val="5B6670"/>
                </a:solidFill>
                <a:latin typeface="Aptos"/>
                <a:ea typeface="Aptos"/>
                <a:cs typeface="Aptos"/>
              </a:defRPr>
            </a:pPr>
            <a:r>
              <a:rPr sz="1500" b="0" i="0">
                <a:solidFill>
                  <a:srgbClr val="5B6670"/>
                </a:solidFill>
                <a:latin typeface="Aptos"/>
                <a:ea typeface="Aptos"/>
                <a:cs typeface="Aptos"/>
              </a:rPr>
              <a:t>The opening offer foreclosed discovery.</a:t>
            </a:r>
          </a:p>
        </p:txBody>
      </p:sp>
      <p:sp>
        <p:nvSpPr>
          <p:cNvPr id="8" name="result-arrow">
            <a:extLst xmlns:a="http://schemas.openxmlformats.org/drawingml/2006/main">
              <a:ext uri="{FF2B5EF4-FFF2-40B4-BE49-F238E27FC236}">
                <a16:creationId xmlns:a16="http://schemas.microsoft.com/office/drawing/2014/main" id="{DE98F228-8E5E-4F6F-876D-A5D449EC403B}"/>
              </a:ext>
            </a:extLst>
          </p:cNvPr>
          <p:cNvSpPr>
            <a:spLocks xmlns:a="http://schemas.openxmlformats.org/drawingml/2006/main" noGrp="1"/>
          </p:cNvSpPr>
          <p:nvPr/>
        </p:nvSpPr>
        <p:spPr>
          <a:xfrm xmlns:a="http://schemas.openxmlformats.org/drawingml/2006/main">
            <a:off x="5467350" y="3009900"/>
            <a:ext cx="11049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C57A42"/>
                </a:solidFill>
                <a:latin typeface="Aptos Display"/>
                <a:ea typeface="Aptos Display"/>
                <a:cs typeface="Aptos Display"/>
              </a:defRPr>
            </a:pPr>
            <a:r>
              <a:rPr sz="2850" b="1" i="0">
                <a:solidFill>
                  <a:srgbClr val="C57A42"/>
                </a:solidFill>
                <a:latin typeface="Aptos Display"/>
                <a:ea typeface="Aptos Display"/>
                <a:cs typeface="Aptos Display"/>
              </a:rPr>
              <a:t>→</a:t>
            </a:r>
          </a:p>
        </p:txBody>
      </p:sp>
      <p:sp>
        <p:nvSpPr>
          <p:cNvPr id="9" name="result-this-label">
            <a:extLst xmlns:a="http://schemas.openxmlformats.org/drawingml/2006/main">
              <a:ext uri="{FF2B5EF4-FFF2-40B4-BE49-F238E27FC236}">
                <a16:creationId xmlns:a16="http://schemas.microsoft.com/office/drawing/2014/main" id="{083470FB-9D9A-4423-8ED0-9724D1CC048B}"/>
              </a:ext>
            </a:extLst>
          </p:cNvPr>
          <p:cNvSpPr>
            <a:spLocks xmlns:a="http://schemas.openxmlformats.org/drawingml/2006/main" noGrp="1"/>
          </p:cNvSpPr>
          <p:nvPr/>
        </p:nvSpPr>
        <p:spPr>
          <a:xfrm xmlns:a="http://schemas.openxmlformats.org/drawingml/2006/main">
            <a:off x="6934200" y="2076450"/>
            <a:ext cx="4572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6F6B"/>
                </a:solidFill>
                <a:latin typeface="Aptos"/>
                <a:ea typeface="Aptos"/>
                <a:cs typeface="Aptos"/>
              </a:defRPr>
            </a:pPr>
            <a:r>
              <a:rPr sz="1350" b="1" i="0">
                <a:solidFill>
                  <a:srgbClr val="2D6F6B"/>
                </a:solidFill>
                <a:latin typeface="Aptos"/>
                <a:ea typeface="Aptos"/>
                <a:cs typeface="Aptos"/>
              </a:rPr>
              <a:t>THIS ATTEMPT</a:t>
            </a:r>
          </a:p>
        </p:txBody>
      </p:sp>
      <p:sp>
        <p:nvSpPr>
          <p:cNvPr id="10" name="result-this-score">
            <a:extLst xmlns:a="http://schemas.openxmlformats.org/drawingml/2006/main">
              <a:ext uri="{FF2B5EF4-FFF2-40B4-BE49-F238E27FC236}">
                <a16:creationId xmlns:a16="http://schemas.microsoft.com/office/drawing/2014/main" id="{14E800BF-2276-41EF-8BE3-BEBF53F861EE}"/>
              </a:ext>
            </a:extLst>
          </p:cNvPr>
          <p:cNvSpPr>
            <a:spLocks xmlns:a="http://schemas.openxmlformats.org/drawingml/2006/main" noGrp="1"/>
          </p:cNvSpPr>
          <p:nvPr/>
        </p:nvSpPr>
        <p:spPr>
          <a:xfrm xmlns:a="http://schemas.openxmlformats.org/drawingml/2006/main">
            <a:off x="6915150" y="2400300"/>
            <a:ext cx="2286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550" b="1" i="0">
                <a:solidFill>
                  <a:srgbClr val="2D6F6B"/>
                </a:solidFill>
                <a:latin typeface="Aptos Display"/>
                <a:ea typeface="Aptos Display"/>
                <a:cs typeface="Aptos Display"/>
              </a:defRPr>
            </a:pPr>
            <a:r>
              <a:rPr sz="5550" b="1" i="0">
                <a:solidFill>
                  <a:srgbClr val="2D6F6B"/>
                </a:solidFill>
                <a:latin typeface="Aptos Display"/>
                <a:ea typeface="Aptos Display"/>
                <a:cs typeface="Aptos Display"/>
              </a:rPr>
              <a:t>6/6</a:t>
            </a:r>
          </a:p>
        </p:txBody>
      </p:sp>
      <p:sp>
        <p:nvSpPr>
          <p:cNvPr id="11" name="result-this-quote">
            <a:extLst xmlns:a="http://schemas.openxmlformats.org/drawingml/2006/main">
              <a:ext uri="{FF2B5EF4-FFF2-40B4-BE49-F238E27FC236}">
                <a16:creationId xmlns:a16="http://schemas.microsoft.com/office/drawing/2014/main" id="{7755CA97-C3A4-4F0E-AB5D-BF637A962BB9}"/>
              </a:ext>
            </a:extLst>
          </p:cNvPr>
          <p:cNvSpPr>
            <a:spLocks xmlns:a="http://schemas.openxmlformats.org/drawingml/2006/main" noGrp="1"/>
          </p:cNvSpPr>
          <p:nvPr/>
        </p:nvSpPr>
        <p:spPr>
          <a:xfrm xmlns:a="http://schemas.openxmlformats.org/drawingml/2006/main">
            <a:off x="6915150" y="3352800"/>
            <a:ext cx="46672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1725" b="1" i="0">
                <a:solidFill>
                  <a:srgbClr val="162A3C"/>
                </a:solidFill>
                <a:latin typeface="Aptos Display"/>
                <a:ea typeface="Aptos Display"/>
                <a:cs typeface="Aptos Display"/>
              </a:defRPr>
            </a:pPr>
            <a:r>
              <a:rPr sz="1725" b="1" i="0">
                <a:solidFill>
                  <a:srgbClr val="162A3C"/>
                </a:solidFill>
                <a:latin typeface="Aptos Display"/>
                <a:ea typeface="Aptos Display"/>
                <a:cs typeface="Aptos Display"/>
              </a:rPr>
              <a:t>“Three weeks ago I called with a simple question,</a:t>
            </a:r>
          </a:p>
          <a:p xmlns:a="http://schemas.openxmlformats.org/drawingml/2006/main">
            <a:pPr algn="l">
              <a:lnSpc>
                <a:spcPct val="95000"/>
              </a:lnSpc>
              <a:buNone/>
              <a:defRPr sz="1725" b="1" i="0">
                <a:solidFill>
                  <a:srgbClr val="162A3C"/>
                </a:solidFill>
                <a:latin typeface="Aptos Display"/>
                <a:ea typeface="Aptos Display"/>
                <a:cs typeface="Aptos Display"/>
              </a:defRPr>
            </a:pPr>
            <a:r>
              <a:rPr sz="1725" b="1" i="0">
                <a:solidFill>
                  <a:srgbClr val="162A3C"/>
                </a:solidFill>
                <a:latin typeface="Aptos Display"/>
                <a:ea typeface="Aptos Display"/>
                <a:cs typeface="Aptos Display"/>
              </a:rPr>
              <a:t>and the representative was rushed and dismissive.</a:t>
            </a:r>
          </a:p>
          <a:p xmlns:a="http://schemas.openxmlformats.org/drawingml/2006/main">
            <a:pPr algn="l">
              <a:lnSpc>
                <a:spcPct val="95000"/>
              </a:lnSpc>
              <a:buNone/>
              <a:defRPr sz="1725" b="1" i="0">
                <a:solidFill>
                  <a:srgbClr val="162A3C"/>
                </a:solidFill>
                <a:latin typeface="Aptos Display"/>
                <a:ea typeface="Aptos Display"/>
                <a:cs typeface="Aptos Display"/>
              </a:defRPr>
            </a:pPr>
            <a:r>
              <a:rPr sz="1725" b="1" i="0">
                <a:solidFill>
                  <a:srgbClr val="162A3C"/>
                </a:solidFill>
                <a:latin typeface="Aptos Display"/>
                <a:ea typeface="Aptos Display"/>
                <a:cs typeface="Aptos Display"/>
              </a:rPr>
              <a:t>They made me feel stupid for asking.”</a:t>
            </a:r>
          </a:p>
        </p:txBody>
      </p:sp>
      <p:sp>
        <p:nvSpPr>
          <p:cNvPr id="12" name="result-this-evidence">
            <a:extLst xmlns:a="http://schemas.openxmlformats.org/drawingml/2006/main">
              <a:ext uri="{FF2B5EF4-FFF2-40B4-BE49-F238E27FC236}">
                <a16:creationId xmlns:a16="http://schemas.microsoft.com/office/drawing/2014/main" id="{49CDC0D8-12D0-409A-8309-2EE37AB7424B}"/>
              </a:ext>
            </a:extLst>
          </p:cNvPr>
          <p:cNvSpPr>
            <a:spLocks xmlns:a="http://schemas.openxmlformats.org/drawingml/2006/main" noGrp="1"/>
          </p:cNvSpPr>
          <p:nvPr/>
        </p:nvSpPr>
        <p:spPr>
          <a:xfrm xmlns:a="http://schemas.openxmlformats.org/drawingml/2006/main">
            <a:off x="6915150" y="4572000"/>
            <a:ext cx="4381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B6670"/>
                </a:solidFill>
                <a:latin typeface="Aptos"/>
                <a:ea typeface="Aptos"/>
                <a:cs typeface="Aptos"/>
              </a:defRPr>
            </a:pPr>
            <a:r>
              <a:rPr sz="1500" b="0" i="0">
                <a:solidFill>
                  <a:srgbClr val="5B6670"/>
                </a:solidFill>
                <a:latin typeface="Aptos"/>
                <a:ea typeface="Aptos"/>
                <a:cs typeface="Aptos"/>
              </a:rPr>
              <a:t>Criterion 3 · Met</a:t>
            </a:r>
          </a:p>
          <a:p xmlns:a="http://schemas.openxmlformats.org/drawingml/2006/main">
            <a:pPr algn="l">
              <a:lnSpc>
                <a:spcPct val="105000"/>
              </a:lnSpc>
              <a:buNone/>
              <a:defRPr sz="1500" b="0" i="0">
                <a:solidFill>
                  <a:srgbClr val="5B6670"/>
                </a:solidFill>
                <a:latin typeface="Aptos"/>
                <a:ea typeface="Aptos"/>
                <a:cs typeface="Aptos"/>
              </a:defRPr>
            </a:pPr>
            <a:r>
              <a:rPr sz="1500" b="0" i="0">
                <a:solidFill>
                  <a:srgbClr val="5B6670"/>
                </a:solidFill>
                <a:latin typeface="Aptos"/>
                <a:ea typeface="Aptos"/>
                <a:cs typeface="Aptos"/>
              </a:rPr>
              <a:t>Jordan’s exact disclosure is the evidence.</a:t>
            </a:r>
          </a:p>
        </p:txBody>
      </p:sp>
      <p:sp>
        <p:nvSpPr>
          <p:cNvPr id="13" name="result-bottom-rule">
            <a:extLst xmlns:a="http://schemas.openxmlformats.org/drawingml/2006/main">
              <a:ext uri="{FF2B5EF4-FFF2-40B4-BE49-F238E27FC236}">
                <a16:creationId xmlns:a16="http://schemas.microsoft.com/office/drawing/2014/main" id="{7D161D37-0826-4A58-9DC5-90DDD89E74F1}"/>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solidFill xmlns:a="http://schemas.openxmlformats.org/drawingml/2006/main">
            <a:srgbClr val="000000">
              <a:alpha val="0"/>
            </a:srgbClr>
          </a:solidFill>
          <a:ln xmlns:a="http://schemas.openxmlformats.org/drawingml/2006/main" w="9525">
            <a:solidFill>
              <a:srgbClr val="C8C0B3"/>
            </a:solidFill>
            <a:prstDash val="solid"/>
          </a:ln>
        </p:spPr>
      </p:sp>
      <p:sp>
        <p:nvSpPr>
          <p:cNvPr id="14" name="result-credibility">
            <a:extLst xmlns:a="http://schemas.openxmlformats.org/drawingml/2006/main">
              <a:ext uri="{FF2B5EF4-FFF2-40B4-BE49-F238E27FC236}">
                <a16:creationId xmlns:a16="http://schemas.microsoft.com/office/drawing/2014/main" id="{DD52FF41-C55B-41BA-AF3E-4436EE06CB7E}"/>
              </a:ext>
            </a:extLst>
          </p:cNvPr>
          <p:cNvSpPr>
            <a:spLocks xmlns:a="http://schemas.openxmlformats.org/drawingml/2006/main" noGrp="1"/>
          </p:cNvSpPr>
          <p:nvPr/>
        </p:nvSpPr>
        <p:spPr>
          <a:xfrm xmlns:a="http://schemas.openxmlformats.org/drawingml/2006/main">
            <a:off x="685800" y="5753100"/>
            <a:ext cx="10820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162A3C"/>
                </a:solidFill>
                <a:latin typeface="Aptos"/>
                <a:ea typeface="Aptos"/>
                <a:cs typeface="Aptos"/>
              </a:defRPr>
            </a:pPr>
            <a:r>
              <a:rPr sz="1725" b="1" i="0">
                <a:solidFill>
                  <a:srgbClr val="162A3C"/>
                </a:solidFill>
                <a:latin typeface="Aptos"/>
                <a:ea typeface="Aptos"/>
                <a:cs typeface="Aptos"/>
              </a:rPr>
              <a:t>Fixed Rubric  ·  isolated Assessment  ·  exact Transcript evidence  ·  Feedback cannot revise verdicts</a:t>
            </a:r>
          </a:p>
        </p:txBody>
      </p:sp>
      <p:sp>
        <p:nvSpPr>
          <p:cNvPr id="15" name="slide-7-footer-number">
            <a:extLst xmlns:a="http://schemas.openxmlformats.org/drawingml/2006/main">
              <a:ext uri="{FF2B5EF4-FFF2-40B4-BE49-F238E27FC236}">
                <a16:creationId xmlns:a16="http://schemas.microsoft.com/office/drawing/2014/main" id="{D80278CB-7386-477E-8225-D8A981629E7B}"/>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07</a:t>
            </a:r>
          </a:p>
        </p:txBody>
      </p:sp>
    </p:spTree>
    <p:extLst>
      <p:ext uri="{BB962C8B-B14F-4D97-AF65-F5344CB8AC3E}">
        <p14:creationId xmlns:p14="http://schemas.microsoft.com/office/powerpoint/2010/main" val="837464123"/>
      </p:ext>
    </p:extLst>
  </p:cSld>
</p:sld>
</file>

<file path=ppt/slides/slide8.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slide-8-title">
            <a:extLst xmlns:a="http://schemas.openxmlformats.org/drawingml/2006/main">
              <a:ext uri="{FF2B5EF4-FFF2-40B4-BE49-F238E27FC236}">
                <a16:creationId xmlns:a16="http://schemas.microsoft.com/office/drawing/2014/main" id="{555461D3-BE21-470F-AD23-E75416A07676}"/>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Customer conversations are the first application,</a:t>
            </a:r>
          </a:p>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not the only one</a:t>
            </a:r>
          </a:p>
        </p:txBody>
      </p:sp>
      <p:sp>
        <p:nvSpPr>
          <p:cNvPr id="2" name="slide-8-top-rule">
            <a:extLst xmlns:a="http://schemas.openxmlformats.org/drawingml/2006/main">
              <a:ext uri="{FF2B5EF4-FFF2-40B4-BE49-F238E27FC236}">
                <a16:creationId xmlns:a16="http://schemas.microsoft.com/office/drawing/2014/main" id="{C99C7C36-A66D-4CC1-A135-78C5AD745A51}"/>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applications-first">
            <a:extLst xmlns:a="http://schemas.openxmlformats.org/drawingml/2006/main">
              <a:ext uri="{FF2B5EF4-FFF2-40B4-BE49-F238E27FC236}">
                <a16:creationId xmlns:a16="http://schemas.microsoft.com/office/drawing/2014/main" id="{E20EB2B5-8091-4F99-AB05-BE911E2661ED}"/>
              </a:ext>
            </a:extLst>
          </p:cNvPr>
          <p:cNvSpPr>
            <a:spLocks xmlns:a="http://schemas.openxmlformats.org/drawingml/2006/main" noGrp="1"/>
          </p:cNvSpPr>
          <p:nvPr/>
        </p:nvSpPr>
        <p:spPr>
          <a:xfrm xmlns:a="http://schemas.openxmlformats.org/drawingml/2006/main">
            <a:off x="685800" y="177165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6F6B"/>
                </a:solidFill>
                <a:latin typeface="Aptos"/>
                <a:ea typeface="Aptos"/>
                <a:cs typeface="Aptos"/>
              </a:defRPr>
            </a:pPr>
            <a:r>
              <a:rPr sz="1350" b="1" i="0">
                <a:solidFill>
                  <a:srgbClr val="2D6F6B"/>
                </a:solidFill>
                <a:latin typeface="Aptos"/>
                <a:ea typeface="Aptos"/>
                <a:cs typeface="Aptos"/>
              </a:rPr>
              <a:t>FIRST APPLICATION</a:t>
            </a:r>
          </a:p>
        </p:txBody>
      </p:sp>
      <p:sp>
        <p:nvSpPr>
          <p:cNvPr id="4" name="applications-main">
            <a:extLst xmlns:a="http://schemas.openxmlformats.org/drawingml/2006/main">
              <a:ext uri="{FF2B5EF4-FFF2-40B4-BE49-F238E27FC236}">
                <a16:creationId xmlns:a16="http://schemas.microsoft.com/office/drawing/2014/main" id="{DE0DC126-81E2-4A0E-98D5-1C3445BB71AC}"/>
              </a:ext>
            </a:extLst>
          </p:cNvPr>
          <p:cNvSpPr>
            <a:spLocks xmlns:a="http://schemas.openxmlformats.org/drawingml/2006/main" noGrp="1"/>
          </p:cNvSpPr>
          <p:nvPr/>
        </p:nvSpPr>
        <p:spPr>
          <a:xfrm xmlns:a="http://schemas.openxmlformats.org/drawingml/2006/main">
            <a:off x="685800" y="2209800"/>
            <a:ext cx="5715000" cy="2781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62A3C"/>
                </a:solidFill>
                <a:latin typeface="Aptos Display"/>
                <a:ea typeface="Aptos Display"/>
                <a:cs typeface="Aptos Display"/>
              </a:defRPr>
            </a:pPr>
            <a:r>
              <a:rPr sz="3450" b="1" i="0">
                <a:solidFill>
                  <a:srgbClr val="162A3C"/>
                </a:solidFill>
                <a:latin typeface="Aptos Display"/>
                <a:ea typeface="Aptos Display"/>
                <a:cs typeface="Aptos Display"/>
              </a:rPr>
              <a:t>Frontline service</a:t>
            </a:r>
          </a:p>
          <a:p xmlns:a="http://schemas.openxmlformats.org/drawingml/2006/main">
            <a:pPr algn="l">
              <a:lnSpc>
                <a:spcPct val="98000"/>
              </a:lnSpc>
              <a:buNone/>
              <a:defRPr sz="3450" b="1" i="0">
                <a:solidFill>
                  <a:srgbClr val="162A3C"/>
                </a:solidFill>
                <a:latin typeface="Aptos Display"/>
                <a:ea typeface="Aptos Display"/>
                <a:cs typeface="Aptos Display"/>
              </a:defRPr>
            </a:pPr>
            <a:r>
              <a:rPr sz="3450" b="1" i="0">
                <a:solidFill>
                  <a:srgbClr val="162A3C"/>
                </a:solidFill>
                <a:latin typeface="Aptos Display"/>
                <a:ea typeface="Aptos Display"/>
                <a:cs typeface="Aptos Display"/>
              </a:rPr>
              <a:t>Complaints</a:t>
            </a:r>
          </a:p>
          <a:p xmlns:a="http://schemas.openxmlformats.org/drawingml/2006/main">
            <a:pPr algn="l">
              <a:lnSpc>
                <a:spcPct val="98000"/>
              </a:lnSpc>
              <a:buNone/>
              <a:defRPr sz="3450" b="1" i="0">
                <a:solidFill>
                  <a:srgbClr val="162A3C"/>
                </a:solidFill>
                <a:latin typeface="Aptos Display"/>
                <a:ea typeface="Aptos Display"/>
                <a:cs typeface="Aptos Display"/>
              </a:defRPr>
            </a:pPr>
            <a:r>
              <a:rPr sz="3450" b="1" i="0">
                <a:solidFill>
                  <a:srgbClr val="162A3C"/>
                </a:solidFill>
                <a:latin typeface="Aptos Display"/>
                <a:ea typeface="Aptos Display"/>
                <a:cs typeface="Aptos Display"/>
              </a:rPr>
              <a:t>Retention</a:t>
            </a:r>
          </a:p>
          <a:p xmlns:a="http://schemas.openxmlformats.org/drawingml/2006/main">
            <a:pPr algn="l">
              <a:lnSpc>
                <a:spcPct val="98000"/>
              </a:lnSpc>
              <a:buNone/>
              <a:defRPr sz="3450" b="1" i="0">
                <a:solidFill>
                  <a:srgbClr val="162A3C"/>
                </a:solidFill>
                <a:latin typeface="Aptos Display"/>
                <a:ea typeface="Aptos Display"/>
                <a:cs typeface="Aptos Display"/>
              </a:defRPr>
            </a:pPr>
            <a:r>
              <a:rPr sz="3450" b="1" i="0">
                <a:solidFill>
                  <a:srgbClr val="162A3C"/>
                </a:solidFill>
                <a:latin typeface="Aptos Display"/>
                <a:ea typeface="Aptos Display"/>
                <a:cs typeface="Aptos Display"/>
              </a:rPr>
              <a:t>Emotionally charged moments</a:t>
            </a:r>
          </a:p>
        </p:txBody>
      </p:sp>
      <p:sp>
        <p:nvSpPr>
          <p:cNvPr id="5" name="applications-why">
            <a:extLst xmlns:a="http://schemas.openxmlformats.org/drawingml/2006/main">
              <a:ext uri="{FF2B5EF4-FFF2-40B4-BE49-F238E27FC236}">
                <a16:creationId xmlns:a16="http://schemas.microsoft.com/office/drawing/2014/main" id="{29BC2DE1-C6A9-4BC9-AC77-CA4784DC1AF4}"/>
              </a:ext>
            </a:extLst>
          </p:cNvPr>
          <p:cNvSpPr>
            <a:spLocks xmlns:a="http://schemas.openxmlformats.org/drawingml/2006/main" noGrp="1"/>
          </p:cNvSpPr>
          <p:nvPr/>
        </p:nvSpPr>
        <p:spPr>
          <a:xfrm xmlns:a="http://schemas.openxmlformats.org/drawingml/2006/main">
            <a:off x="685800" y="5219700"/>
            <a:ext cx="581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B6670"/>
                </a:solidFill>
                <a:latin typeface="Aptos"/>
                <a:ea typeface="Aptos"/>
                <a:cs typeface="Aptos"/>
              </a:defRPr>
            </a:pPr>
            <a:r>
              <a:rPr sz="1725" b="0" i="0">
                <a:solidFill>
                  <a:srgbClr val="5B6670"/>
                </a:solidFill>
                <a:latin typeface="Aptos"/>
                <a:ea typeface="Aptos"/>
                <a:cs typeface="Aptos"/>
              </a:rPr>
              <a:t>The same pattern recurs: a visible demand may sit on top of an experience the Trainee has not yet understood.</a:t>
            </a:r>
          </a:p>
        </p:txBody>
      </p:sp>
      <p:sp>
        <p:nvSpPr>
          <p:cNvPr id="6" name="applications-extension-bg">
            <a:extLst xmlns:a="http://schemas.openxmlformats.org/drawingml/2006/main">
              <a:ext uri="{FF2B5EF4-FFF2-40B4-BE49-F238E27FC236}">
                <a16:creationId xmlns:a16="http://schemas.microsoft.com/office/drawing/2014/main" id="{366453D8-9477-4A3F-97EB-BDE8B79E5852}"/>
              </a:ext>
            </a:extLst>
          </p:cNvPr>
          <p:cNvSpPr>
            <a:spLocks xmlns:a="http://schemas.openxmlformats.org/drawingml/2006/main" noGrp="1"/>
          </p:cNvSpPr>
          <p:nvPr/>
        </p:nvSpPr>
        <p:spPr>
          <a:xfrm xmlns:a="http://schemas.openxmlformats.org/drawingml/2006/main">
            <a:off x="7086600" y="1790700"/>
            <a:ext cx="4419600" cy="4114800"/>
          </a:xfrm>
          <a:prstGeom xmlns:a="http://schemas.openxmlformats.org/drawingml/2006/main" prst="roundRect">
            <a:avLst>
              <a:gd name="adj" fmla="val 5556"/>
            </a:avLst>
          </a:prstGeom>
          <a:solidFill xmlns:a="http://schemas.openxmlformats.org/drawingml/2006/main">
            <a:srgbClr val="DCE8E3"/>
          </a:solidFill>
          <a:ln xmlns:a="http://schemas.openxmlformats.org/drawingml/2006/main" w="0">
            <a:solidFill>
              <a:srgbClr val="000000">
                <a:alpha val="0"/>
              </a:srgbClr>
            </a:solidFill>
            <a:prstDash val="solid"/>
          </a:ln>
        </p:spPr>
      </p:sp>
      <p:sp>
        <p:nvSpPr>
          <p:cNvPr id="7" name="applications-extension-label">
            <a:extLst xmlns:a="http://schemas.openxmlformats.org/drawingml/2006/main">
              <a:ext uri="{FF2B5EF4-FFF2-40B4-BE49-F238E27FC236}">
                <a16:creationId xmlns:a16="http://schemas.microsoft.com/office/drawing/2014/main" id="{F9140555-FB6A-43AD-89E2-C7FFC79D9581}"/>
              </a:ext>
            </a:extLst>
          </p:cNvPr>
          <p:cNvSpPr>
            <a:spLocks xmlns:a="http://schemas.openxmlformats.org/drawingml/2006/main" noGrp="1"/>
          </p:cNvSpPr>
          <p:nvPr/>
        </p:nvSpPr>
        <p:spPr>
          <a:xfrm xmlns:a="http://schemas.openxmlformats.org/drawingml/2006/main">
            <a:off x="7429500" y="2152650"/>
            <a:ext cx="3619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6F6B"/>
                </a:solidFill>
                <a:latin typeface="Aptos"/>
                <a:ea typeface="Aptos"/>
                <a:cs typeface="Aptos"/>
              </a:defRPr>
            </a:pPr>
            <a:r>
              <a:rPr sz="1350" b="1" i="0">
                <a:solidFill>
                  <a:srgbClr val="2D6F6B"/>
                </a:solidFill>
                <a:latin typeface="Aptos"/>
                <a:ea typeface="Aptos"/>
                <a:cs typeface="Aptos"/>
              </a:rPr>
              <a:t>ONE CREDIBLE EXTENSION</a:t>
            </a:r>
          </a:p>
        </p:txBody>
      </p:sp>
      <p:sp>
        <p:nvSpPr>
          <p:cNvPr id="8" name="applications-extension-title">
            <a:extLst xmlns:a="http://schemas.openxmlformats.org/drawingml/2006/main">
              <a:ext uri="{FF2B5EF4-FFF2-40B4-BE49-F238E27FC236}">
                <a16:creationId xmlns:a16="http://schemas.microsoft.com/office/drawing/2014/main" id="{7B4F8389-A326-42B2-A078-13506DB7F0FD}"/>
              </a:ext>
            </a:extLst>
          </p:cNvPr>
          <p:cNvSpPr>
            <a:spLocks xmlns:a="http://schemas.openxmlformats.org/drawingml/2006/main" noGrp="1"/>
          </p:cNvSpPr>
          <p:nvPr/>
        </p:nvSpPr>
        <p:spPr>
          <a:xfrm xmlns:a="http://schemas.openxmlformats.org/drawingml/2006/main">
            <a:off x="7429500" y="2686050"/>
            <a:ext cx="35433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84360"/>
          </a:bodyPr>
          <a:lstStyle xmlns:a="http://schemas.openxmlformats.org/drawingml/2006/main"/>
          <a:p xmlns:a="http://schemas.openxmlformats.org/drawingml/2006/main">
            <a:pPr algn="l">
              <a:lnSpc>
                <a:spcPct val="95000"/>
              </a:lnSpc>
              <a:buNone/>
              <a:defRPr sz="2925" b="1" i="0">
                <a:solidFill>
                  <a:srgbClr val="162A3C"/>
                </a:solidFill>
                <a:latin typeface="Aptos Display"/>
                <a:ea typeface="Aptos Display"/>
                <a:cs typeface="Aptos Display"/>
              </a:defRPr>
            </a:pPr>
            <a:r>
              <a:rPr sz="2925" b="1" i="0">
                <a:solidFill>
                  <a:srgbClr val="162A3C"/>
                </a:solidFill>
                <a:latin typeface="Aptos Display"/>
                <a:ea typeface="Aptos Display"/>
                <a:cs typeface="Aptos Display"/>
              </a:rPr>
              <a:t>Difficult manager–employee conversations</a:t>
            </a:r>
          </a:p>
        </p:txBody>
      </p:sp>
      <p:sp>
        <p:nvSpPr>
          <p:cNvPr id="9" name="applications-extension-copy">
            <a:extLst xmlns:a="http://schemas.openxmlformats.org/drawingml/2006/main">
              <a:ext uri="{FF2B5EF4-FFF2-40B4-BE49-F238E27FC236}">
                <a16:creationId xmlns:a16="http://schemas.microsoft.com/office/drawing/2014/main" id="{B18CFE77-FCFB-43D1-AAB9-F8560BD28CF8}"/>
              </a:ext>
            </a:extLst>
          </p:cNvPr>
          <p:cNvSpPr>
            <a:spLocks xmlns:a="http://schemas.openxmlformats.org/drawingml/2006/main" noGrp="1"/>
          </p:cNvSpPr>
          <p:nvPr/>
        </p:nvSpPr>
        <p:spPr>
          <a:xfrm xmlns:a="http://schemas.openxmlformats.org/drawingml/2006/main">
            <a:off x="7429500" y="3943350"/>
            <a:ext cx="35433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17222F"/>
                </a:solidFill>
                <a:latin typeface="Aptos"/>
                <a:ea typeface="Aptos"/>
                <a:cs typeface="Aptos"/>
              </a:defRPr>
            </a:pPr>
            <a:r>
              <a:rPr sz="1800" b="0" i="0">
                <a:solidFill>
                  <a:srgbClr val="17222F"/>
                </a:solidFill>
                <a:latin typeface="Aptos"/>
                <a:ea typeface="Aptos"/>
                <a:cs typeface="Aptos"/>
              </a:rPr>
              <a:t>Feedback  ·  accountability  ·  performance  ·  conflict</a:t>
            </a:r>
          </a:p>
        </p:txBody>
      </p:sp>
      <p:sp>
        <p:nvSpPr>
          <p:cNvPr id="10" name="applications-extension-condition">
            <a:extLst xmlns:a="http://schemas.openxmlformats.org/drawingml/2006/main">
              <a:ext uri="{FF2B5EF4-FFF2-40B4-BE49-F238E27FC236}">
                <a16:creationId xmlns:a16="http://schemas.microsoft.com/office/drawing/2014/main" id="{87D29D12-BF18-4A27-9C07-85651CFB217C}"/>
              </a:ext>
            </a:extLst>
          </p:cNvPr>
          <p:cNvSpPr>
            <a:spLocks xmlns:a="http://schemas.openxmlformats.org/drawingml/2006/main" noGrp="1"/>
          </p:cNvSpPr>
          <p:nvPr/>
        </p:nvSpPr>
        <p:spPr>
          <a:xfrm xmlns:a="http://schemas.openxmlformats.org/drawingml/2006/main">
            <a:off x="7429500" y="5010150"/>
            <a:ext cx="35433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2D6F6B"/>
                </a:solidFill>
                <a:latin typeface="Aptos"/>
                <a:ea typeface="Aptos"/>
                <a:cs typeface="Aptos"/>
              </a:defRPr>
            </a:pPr>
            <a:r>
              <a:rPr sz="1500" b="1" i="0">
                <a:solidFill>
                  <a:srgbClr val="2D6F6B"/>
                </a:solidFill>
                <a:latin typeface="Aptos"/>
                <a:ea typeface="Aptos"/>
                <a:cs typeface="Aptos"/>
              </a:rPr>
              <a:t>Each needs its own observable skill, authored Scenario, and stable Rubric.</a:t>
            </a:r>
          </a:p>
        </p:txBody>
      </p:sp>
      <p:sp>
        <p:nvSpPr>
          <p:cNvPr id="11" name="slide-8-footer-number">
            <a:extLst xmlns:a="http://schemas.openxmlformats.org/drawingml/2006/main">
              <a:ext uri="{FF2B5EF4-FFF2-40B4-BE49-F238E27FC236}">
                <a16:creationId xmlns:a16="http://schemas.microsoft.com/office/drawing/2014/main" id="{7A599BEF-DFB4-43D2-9D92-80B4B35A9ED2}"/>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08</a:t>
            </a:r>
          </a:p>
        </p:txBody>
      </p:sp>
    </p:spTree>
    <p:extLst>
      <p:ext uri="{BB962C8B-B14F-4D97-AF65-F5344CB8AC3E}">
        <p14:creationId xmlns:p14="http://schemas.microsoft.com/office/powerpoint/2010/main" val="962556073"/>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4" name="slide-9-title">
            <a:extLst xmlns:a="http://schemas.openxmlformats.org/drawingml/2006/main">
              <a:ext uri="{FF2B5EF4-FFF2-40B4-BE49-F238E27FC236}">
                <a16:creationId xmlns:a16="http://schemas.microsoft.com/office/drawing/2014/main" id="{68482673-0B05-4C03-979A-F9A65085AB18}"/>
              </a:ext>
            </a:extLst>
          </p:cNvPr>
          <p:cNvSpPr>
            <a:spLocks xmlns:a="http://schemas.openxmlformats.org/drawingml/2006/main" noGrp="1"/>
          </p:cNvSpPr>
          <p:nvPr/>
        </p:nvSpPr>
        <p:spPr>
          <a:xfrm xmlns:a="http://schemas.openxmlformats.org/drawingml/2006/main">
            <a:off x="609600" y="400050"/>
            <a:ext cx="109728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This prototype proves the learning loop;</a:t>
            </a:r>
          </a:p>
          <a:p xmlns:a="http://schemas.openxmlformats.org/drawingml/2006/main">
            <a:pPr algn="l">
              <a:lnSpc>
                <a:spcPct val="93000"/>
              </a:lnSpc>
              <a:buNone/>
              <a:defRPr sz="3600" b="1" i="0">
                <a:solidFill>
                  <a:srgbClr val="17222F"/>
                </a:solidFill>
                <a:latin typeface="Aptos Display"/>
                <a:ea typeface="Aptos Display"/>
                <a:cs typeface="Aptos Display"/>
              </a:defRPr>
            </a:pPr>
            <a:r>
              <a:rPr sz="3600" b="1" i="0">
                <a:solidFill>
                  <a:srgbClr val="17222F"/>
                </a:solidFill>
                <a:latin typeface="Aptos Display"/>
                <a:ea typeface="Aptos Display"/>
                <a:cs typeface="Aptos Display"/>
              </a:rPr>
              <a:t>the next proof is transfer</a:t>
            </a:r>
          </a:p>
        </p:txBody>
      </p:sp>
      <p:sp>
        <p:nvSpPr>
          <p:cNvPr id="2" name="slide-9-top-rule">
            <a:extLst xmlns:a="http://schemas.openxmlformats.org/drawingml/2006/main">
              <a:ext uri="{FF2B5EF4-FFF2-40B4-BE49-F238E27FC236}">
                <a16:creationId xmlns:a16="http://schemas.microsoft.com/office/drawing/2014/main" id="{0BB5709D-8431-49D1-BAF7-FD5C30C95C0D}"/>
              </a:ext>
            </a:extLst>
          </p:cNvPr>
          <p:cNvSpPr>
            <a:spLocks xmlns:a="http://schemas.openxmlformats.org/drawingml/2006/main" noGrp="1"/>
          </p:cNvSpPr>
          <p:nvPr/>
        </p:nvSpPr>
        <p:spPr>
          <a:xfrm xmlns:a="http://schemas.openxmlformats.org/drawingml/2006/main">
            <a:off x="609600" y="247650"/>
            <a:ext cx="10972800" cy="0"/>
          </a:xfrm>
          <a:prstGeom xmlns:a="http://schemas.openxmlformats.org/drawingml/2006/main" prst="line">
            <a:avLst/>
          </a:prstGeom>
          <a:solidFill xmlns:a="http://schemas.openxmlformats.org/drawingml/2006/main">
            <a:srgbClr val="000000">
              <a:alpha val="0"/>
            </a:srgbClr>
          </a:solidFill>
          <a:ln xmlns:a="http://schemas.openxmlformats.org/drawingml/2006/main" w="38100">
            <a:solidFill>
              <a:srgbClr val="2D6F6B"/>
            </a:solidFill>
            <a:prstDash val="solid"/>
          </a:ln>
        </p:spPr>
      </p:sp>
      <p:sp>
        <p:nvSpPr>
          <p:cNvPr id="3" name="close-now-label">
            <a:extLst xmlns:a="http://schemas.openxmlformats.org/drawingml/2006/main">
              <a:ext uri="{FF2B5EF4-FFF2-40B4-BE49-F238E27FC236}">
                <a16:creationId xmlns:a16="http://schemas.microsoft.com/office/drawing/2014/main" id="{6FFCCC01-FB63-4882-A3D1-272E9BC25A76}"/>
              </a:ext>
            </a:extLst>
          </p:cNvPr>
          <p:cNvSpPr>
            <a:spLocks xmlns:a="http://schemas.openxmlformats.org/drawingml/2006/main" noGrp="1"/>
          </p:cNvSpPr>
          <p:nvPr/>
        </p:nvSpPr>
        <p:spPr>
          <a:xfrm xmlns:a="http://schemas.openxmlformats.org/drawingml/2006/main">
            <a:off x="685800" y="179070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6F6B"/>
                </a:solidFill>
                <a:latin typeface="Aptos"/>
                <a:ea typeface="Aptos"/>
                <a:cs typeface="Aptos"/>
              </a:defRPr>
            </a:pPr>
            <a:r>
              <a:rPr sz="1350" b="1" i="0">
                <a:solidFill>
                  <a:srgbClr val="2D6F6B"/>
                </a:solidFill>
                <a:latin typeface="Aptos"/>
                <a:ea typeface="Aptos"/>
                <a:cs typeface="Aptos"/>
              </a:rPr>
              <a:t>DEMONSTRATED NOW</a:t>
            </a:r>
          </a:p>
        </p:txBody>
      </p:sp>
      <p:sp>
        <p:nvSpPr>
          <p:cNvPr id="4" name="close-now">
            <a:extLst xmlns:a="http://schemas.openxmlformats.org/drawingml/2006/main">
              <a:ext uri="{FF2B5EF4-FFF2-40B4-BE49-F238E27FC236}">
                <a16:creationId xmlns:a16="http://schemas.microsoft.com/office/drawing/2014/main" id="{E11B8458-97CB-415D-B7F4-8CED366CF570}"/>
              </a:ext>
            </a:extLst>
          </p:cNvPr>
          <p:cNvSpPr>
            <a:spLocks xmlns:a="http://schemas.openxmlformats.org/drawingml/2006/main" noGrp="1"/>
          </p:cNvSpPr>
          <p:nvPr/>
        </p:nvSpPr>
        <p:spPr>
          <a:xfrm xmlns:a="http://schemas.openxmlformats.org/drawingml/2006/main">
            <a:off x="685800" y="2247900"/>
            <a:ext cx="4762500" cy="2400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0" i="0">
                <a:solidFill>
                  <a:srgbClr val="162A3C"/>
                </a:solidFill>
                <a:latin typeface="Aptos"/>
                <a:ea typeface="Aptos"/>
                <a:cs typeface="Aptos"/>
              </a:defRPr>
            </a:pPr>
            <a:r>
              <a:rPr sz="2025" b="0" i="0">
                <a:solidFill>
                  <a:srgbClr val="162A3C"/>
                </a:solidFill>
                <a:latin typeface="Aptos"/>
                <a:ea typeface="Aptos"/>
                <a:cs typeface="Aptos"/>
              </a:rPr>
              <a:t>• Authentic practice can be authored.</a:t>
            </a:r>
          </a:p>
          <a:p xmlns:a="http://schemas.openxmlformats.org/drawingml/2006/main">
            <a:pPr algn="l">
              <a:lnSpc>
                <a:spcPct val="105000"/>
              </a:lnSpc>
              <a:buNone/>
              <a:defRPr sz="2025" b="0" i="0">
                <a:solidFill>
                  <a:srgbClr val="162A3C"/>
                </a:solidFill>
                <a:latin typeface="Aptos"/>
                <a:ea typeface="Aptos"/>
                <a:cs typeface="Aptos"/>
              </a:defRPr>
            </a:pPr>
            <a:r>
              <a:rPr sz="2025" b="0" i="0">
                <a:solidFill>
                  <a:srgbClr val="162A3C"/>
                </a:solidFill>
                <a:latin typeface="Aptos"/>
                <a:ea typeface="Aptos"/>
                <a:cs typeface="Aptos"/>
              </a:rPr>
              <a:t>• Behavior can be judged against a stable standard.</a:t>
            </a:r>
          </a:p>
          <a:p xmlns:a="http://schemas.openxmlformats.org/drawingml/2006/main">
            <a:pPr algn="l">
              <a:lnSpc>
                <a:spcPct val="105000"/>
              </a:lnSpc>
              <a:buNone/>
              <a:defRPr sz="2025" b="0" i="0">
                <a:solidFill>
                  <a:srgbClr val="162A3C"/>
                </a:solidFill>
                <a:latin typeface="Aptos"/>
                <a:ea typeface="Aptos"/>
                <a:cs typeface="Aptos"/>
              </a:defRPr>
            </a:pPr>
            <a:r>
              <a:rPr sz="2025" b="0" i="0">
                <a:solidFill>
                  <a:srgbClr val="162A3C"/>
                </a:solidFill>
                <a:latin typeface="Aptos"/>
                <a:ea typeface="Aptos"/>
                <a:cs typeface="Aptos"/>
              </a:rPr>
              <a:t>• Coaching can point to the exact moment.</a:t>
            </a:r>
          </a:p>
          <a:p xmlns:a="http://schemas.openxmlformats.org/drawingml/2006/main">
            <a:pPr algn="l">
              <a:lnSpc>
                <a:spcPct val="105000"/>
              </a:lnSpc>
              <a:buNone/>
              <a:defRPr sz="2025" b="0" i="0">
                <a:solidFill>
                  <a:srgbClr val="162A3C"/>
                </a:solidFill>
                <a:latin typeface="Aptos"/>
                <a:ea typeface="Aptos"/>
                <a:cs typeface="Aptos"/>
              </a:defRPr>
            </a:pPr>
            <a:r>
              <a:rPr sz="2025" b="0" i="0">
                <a:solidFill>
                  <a:srgbClr val="162A3C"/>
                </a:solidFill>
                <a:latin typeface="Aptos"/>
                <a:ea typeface="Aptos"/>
                <a:cs typeface="Aptos"/>
              </a:rPr>
              <a:t>• Improvement can be made visible.</a:t>
            </a:r>
          </a:p>
        </p:txBody>
      </p:sp>
      <p:sp>
        <p:nvSpPr>
          <p:cNvPr id="5" name="close-divider">
            <a:extLst xmlns:a="http://schemas.openxmlformats.org/drawingml/2006/main">
              <a:ext uri="{FF2B5EF4-FFF2-40B4-BE49-F238E27FC236}">
                <a16:creationId xmlns:a16="http://schemas.microsoft.com/office/drawing/2014/main" id="{DBB6AC55-8811-4D17-A00B-00A1A73E31F5}"/>
              </a:ext>
            </a:extLst>
          </p:cNvPr>
          <p:cNvSpPr>
            <a:spLocks xmlns:a="http://schemas.openxmlformats.org/drawingml/2006/main" noGrp="1"/>
          </p:cNvSpPr>
          <p:nvPr/>
        </p:nvSpPr>
        <p:spPr>
          <a:xfrm xmlns:a="http://schemas.openxmlformats.org/drawingml/2006/main">
            <a:off x="5981700" y="1771650"/>
            <a:ext cx="0" cy="304800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C8C0B3"/>
            </a:solidFill>
            <a:prstDash val="solid"/>
          </a:ln>
        </p:spPr>
      </p:sp>
      <p:sp>
        <p:nvSpPr>
          <p:cNvPr id="6" name="close-next-label">
            <a:extLst xmlns:a="http://schemas.openxmlformats.org/drawingml/2006/main">
              <a:ext uri="{FF2B5EF4-FFF2-40B4-BE49-F238E27FC236}">
                <a16:creationId xmlns:a16="http://schemas.microsoft.com/office/drawing/2014/main" id="{B80185EE-84B8-46E2-AE4D-D32C301C0A08}"/>
              </a:ext>
            </a:extLst>
          </p:cNvPr>
          <p:cNvSpPr>
            <a:spLocks xmlns:a="http://schemas.openxmlformats.org/drawingml/2006/main" noGrp="1"/>
          </p:cNvSpPr>
          <p:nvPr/>
        </p:nvSpPr>
        <p:spPr>
          <a:xfrm xmlns:a="http://schemas.openxmlformats.org/drawingml/2006/main">
            <a:off x="6553200" y="179070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57A42"/>
                </a:solidFill>
                <a:latin typeface="Aptos"/>
                <a:ea typeface="Aptos"/>
                <a:cs typeface="Aptos"/>
              </a:defRPr>
            </a:pPr>
            <a:r>
              <a:rPr sz="1350" b="1" i="0">
                <a:solidFill>
                  <a:srgbClr val="C57A42"/>
                </a:solidFill>
                <a:latin typeface="Aptos"/>
                <a:ea typeface="Aptos"/>
                <a:cs typeface="Aptos"/>
              </a:rPr>
              <a:t>THE NEXT PROOF</a:t>
            </a:r>
          </a:p>
        </p:txBody>
      </p:sp>
      <p:sp>
        <p:nvSpPr>
          <p:cNvPr id="7" name="close-next-title">
            <a:extLst xmlns:a="http://schemas.openxmlformats.org/drawingml/2006/main">
              <a:ext uri="{FF2B5EF4-FFF2-40B4-BE49-F238E27FC236}">
                <a16:creationId xmlns:a16="http://schemas.microsoft.com/office/drawing/2014/main" id="{0CB5C7E0-BD46-49BF-BE1E-3742D5E39668}"/>
              </a:ext>
            </a:extLst>
          </p:cNvPr>
          <p:cNvSpPr>
            <a:spLocks xmlns:a="http://schemas.openxmlformats.org/drawingml/2006/main" noGrp="1"/>
          </p:cNvSpPr>
          <p:nvPr/>
        </p:nvSpPr>
        <p:spPr>
          <a:xfrm xmlns:a="http://schemas.openxmlformats.org/drawingml/2006/main">
            <a:off x="6553200" y="2266950"/>
            <a:ext cx="47244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2625" b="1" i="0">
                <a:solidFill>
                  <a:srgbClr val="162A3C"/>
                </a:solidFill>
                <a:latin typeface="Aptos Display"/>
                <a:ea typeface="Aptos Display"/>
                <a:cs typeface="Aptos Display"/>
              </a:defRPr>
            </a:pPr>
            <a:r>
              <a:rPr sz="2625" b="1" i="0">
                <a:solidFill>
                  <a:srgbClr val="162A3C"/>
                </a:solidFill>
                <a:latin typeface="Aptos Display"/>
                <a:ea typeface="Aptos Display"/>
                <a:cs typeface="Aptos Display"/>
              </a:rPr>
              <a:t>Generalization across varied Scenarios</a:t>
            </a:r>
          </a:p>
        </p:txBody>
      </p:sp>
      <p:sp>
        <p:nvSpPr>
          <p:cNvPr id="8" name="close-plus">
            <a:extLst xmlns:a="http://schemas.openxmlformats.org/drawingml/2006/main">
              <a:ext uri="{FF2B5EF4-FFF2-40B4-BE49-F238E27FC236}">
                <a16:creationId xmlns:a16="http://schemas.microsoft.com/office/drawing/2014/main" id="{B255B802-1E34-4B3A-BD23-107EB1F40B25}"/>
              </a:ext>
            </a:extLst>
          </p:cNvPr>
          <p:cNvSpPr>
            <a:spLocks xmlns:a="http://schemas.openxmlformats.org/drawingml/2006/main" noGrp="1"/>
          </p:cNvSpPr>
          <p:nvPr/>
        </p:nvSpPr>
        <p:spPr>
          <a:xfrm xmlns:a="http://schemas.openxmlformats.org/drawingml/2006/main">
            <a:off x="6553200" y="3124200"/>
            <a:ext cx="571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C57A42"/>
                </a:solidFill>
                <a:latin typeface="Aptos"/>
                <a:ea typeface="Aptos"/>
                <a:cs typeface="Aptos"/>
              </a:defRPr>
            </a:pPr>
            <a:r>
              <a:rPr sz="3150" b="1" i="0">
                <a:solidFill>
                  <a:srgbClr val="C57A42"/>
                </a:solidFill>
                <a:latin typeface="Aptos"/>
                <a:ea typeface="Aptos"/>
                <a:cs typeface="Aptos"/>
              </a:rPr>
              <a:t>+</a:t>
            </a:r>
          </a:p>
        </p:txBody>
      </p:sp>
      <p:sp>
        <p:nvSpPr>
          <p:cNvPr id="9" name="close-next-title-2">
            <a:extLst xmlns:a="http://schemas.openxmlformats.org/drawingml/2006/main">
              <a:ext uri="{FF2B5EF4-FFF2-40B4-BE49-F238E27FC236}">
                <a16:creationId xmlns:a16="http://schemas.microsoft.com/office/drawing/2014/main" id="{7A82194B-08A4-4ED1-9D08-CB8C5450693A}"/>
              </a:ext>
            </a:extLst>
          </p:cNvPr>
          <p:cNvSpPr>
            <a:spLocks xmlns:a="http://schemas.openxmlformats.org/drawingml/2006/main" noGrp="1"/>
          </p:cNvSpPr>
          <p:nvPr/>
        </p:nvSpPr>
        <p:spPr>
          <a:xfrm xmlns:a="http://schemas.openxmlformats.org/drawingml/2006/main">
            <a:off x="7124700" y="3181350"/>
            <a:ext cx="41529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95000"/>
              </a:lnSpc>
              <a:buNone/>
              <a:defRPr sz="2625" b="1" i="0">
                <a:solidFill>
                  <a:srgbClr val="162A3C"/>
                </a:solidFill>
                <a:latin typeface="Aptos Display"/>
                <a:ea typeface="Aptos Display"/>
                <a:cs typeface="Aptos Display"/>
              </a:defRPr>
            </a:pPr>
            <a:r>
              <a:rPr sz="2625" b="1" i="0">
                <a:solidFill>
                  <a:srgbClr val="162A3C"/>
                </a:solidFill>
                <a:latin typeface="Aptos Display"/>
                <a:ea typeface="Aptos Display"/>
                <a:cs typeface="Aptos Display"/>
              </a:rPr>
              <a:t>Sustained behavior at work over time</a:t>
            </a:r>
          </a:p>
        </p:txBody>
      </p:sp>
      <p:sp>
        <p:nvSpPr>
          <p:cNvPr id="10" name="close-next-body">
            <a:extLst xmlns:a="http://schemas.openxmlformats.org/drawingml/2006/main">
              <a:ext uri="{FF2B5EF4-FFF2-40B4-BE49-F238E27FC236}">
                <a16:creationId xmlns:a16="http://schemas.microsoft.com/office/drawing/2014/main" id="{7B9BFD39-9FA9-48A6-B0E2-0FA2E7D72ADE}"/>
              </a:ext>
            </a:extLst>
          </p:cNvPr>
          <p:cNvSpPr>
            <a:spLocks xmlns:a="http://schemas.openxmlformats.org/drawingml/2006/main" noGrp="1"/>
          </p:cNvSpPr>
          <p:nvPr/>
        </p:nvSpPr>
        <p:spPr>
          <a:xfrm xmlns:a="http://schemas.openxmlformats.org/drawingml/2006/main">
            <a:off x="6553200" y="4114800"/>
            <a:ext cx="47244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B6670"/>
                </a:solidFill>
                <a:latin typeface="Aptos"/>
                <a:ea typeface="Aptos"/>
                <a:cs typeface="Aptos"/>
              </a:defRPr>
            </a:pPr>
            <a:r>
              <a:rPr sz="1725" b="0" i="0">
                <a:solidFill>
                  <a:srgbClr val="5B6670"/>
                </a:solidFill>
                <a:latin typeface="Aptos"/>
                <a:ea typeface="Aptos"/>
                <a:cs typeface="Aptos"/>
              </a:rPr>
              <a:t>That is the standard for a future program—not a claim this prototype makes today.</a:t>
            </a:r>
          </a:p>
        </p:txBody>
      </p:sp>
      <p:sp>
        <p:nvSpPr>
          <p:cNvPr id="11" name="close-implication-bg">
            <a:extLst xmlns:a="http://schemas.openxmlformats.org/drawingml/2006/main">
              <a:ext uri="{FF2B5EF4-FFF2-40B4-BE49-F238E27FC236}">
                <a16:creationId xmlns:a16="http://schemas.microsoft.com/office/drawing/2014/main" id="{84FF381D-5AAC-4283-8E87-01BEA22B7188}"/>
              </a:ext>
            </a:extLst>
          </p:cNvPr>
          <p:cNvSpPr>
            <a:spLocks xmlns:a="http://schemas.openxmlformats.org/drawingml/2006/main" noGrp="1"/>
          </p:cNvSpPr>
          <p:nvPr/>
        </p:nvSpPr>
        <p:spPr>
          <a:xfrm xmlns:a="http://schemas.openxmlformats.org/drawingml/2006/main">
            <a:off x="685800" y="5219700"/>
            <a:ext cx="10820400" cy="876300"/>
          </a:xfrm>
          <a:prstGeom xmlns:a="http://schemas.openxmlformats.org/drawingml/2006/main" prst="roundRect">
            <a:avLst>
              <a:gd name="adj" fmla="val 19565"/>
            </a:avLst>
          </a:prstGeom>
          <a:solidFill xmlns:a="http://schemas.openxmlformats.org/drawingml/2006/main">
            <a:srgbClr val="162A3C"/>
          </a:solidFill>
          <a:ln xmlns:a="http://schemas.openxmlformats.org/drawingml/2006/main" w="0">
            <a:solidFill>
              <a:srgbClr val="000000">
                <a:alpha val="0"/>
              </a:srgbClr>
            </a:solidFill>
            <a:prstDash val="solid"/>
          </a:ln>
        </p:spPr>
      </p:sp>
      <p:sp>
        <p:nvSpPr>
          <p:cNvPr id="12" name="close-implication">
            <a:extLst xmlns:a="http://schemas.openxmlformats.org/drawingml/2006/main">
              <a:ext uri="{FF2B5EF4-FFF2-40B4-BE49-F238E27FC236}">
                <a16:creationId xmlns:a16="http://schemas.microsoft.com/office/drawing/2014/main" id="{FAE23EDF-C38B-4414-82C0-3080C1A4B8E6}"/>
              </a:ext>
            </a:extLst>
          </p:cNvPr>
          <p:cNvSpPr>
            <a:spLocks xmlns:a="http://schemas.openxmlformats.org/drawingml/2006/main" noGrp="1"/>
          </p:cNvSpPr>
          <p:nvPr/>
        </p:nvSpPr>
        <p:spPr>
          <a:xfrm xmlns:a="http://schemas.openxmlformats.org/drawingml/2006/main">
            <a:off x="990600" y="5429250"/>
            <a:ext cx="10210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ctr">
            <a:normAutofit fontScale="92873"/>
          </a:bodyPr>
          <a:lstStyle xmlns:a="http://schemas.openxmlformats.org/drawingml/2006/main"/>
          <a:p xmlns:a="http://schemas.openxmlformats.org/drawingml/2006/main">
            <a:pPr algn="ctr">
              <a:lnSpc>
                <a:spcPct val="100000"/>
              </a:lnSpc>
              <a:buNone/>
              <a:defRPr sz="2325" b="1" i="0">
                <a:solidFill>
                  <a:srgbClr val="FFFFFF"/>
                </a:solidFill>
                <a:latin typeface="Aptos Display"/>
                <a:ea typeface="Aptos Display"/>
                <a:cs typeface="Aptos Display"/>
              </a:defRPr>
            </a:pPr>
            <a:r>
              <a:rPr sz="2325" b="1" i="0">
                <a:solidFill>
                  <a:srgbClr val="FFFFFF"/>
                </a:solidFill>
                <a:latin typeface="Aptos Display"/>
                <a:ea typeface="Aptos Display"/>
                <a:cs typeface="Aptos Display"/>
              </a:rPr>
              <a:t>Governed AI becomes useful when it makes practice observable, repeatable, and improvable.</a:t>
            </a:r>
          </a:p>
        </p:txBody>
      </p:sp>
      <p:sp>
        <p:nvSpPr>
          <p:cNvPr id="13" name="slide-9-footer-number">
            <a:extLst xmlns:a="http://schemas.openxmlformats.org/drawingml/2006/main">
              <a:ext uri="{FF2B5EF4-FFF2-40B4-BE49-F238E27FC236}">
                <a16:creationId xmlns:a16="http://schemas.microsoft.com/office/drawing/2014/main" id="{50469BFA-F493-404D-8F05-4D6B793AFDE1}"/>
              </a:ext>
            </a:extLst>
          </p:cNvPr>
          <p:cNvSpPr>
            <a:spLocks xmlns:a="http://schemas.openxmlformats.org/drawingml/2006/main" noGrp="1"/>
          </p:cNvSpPr>
          <p:nvPr/>
        </p:nvSpPr>
        <p:spPr>
          <a:xfrm xmlns:a="http://schemas.openxmlformats.org/drawingml/2006/main">
            <a:off x="11163300" y="6486525"/>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5B6670"/>
                </a:solidFill>
                <a:latin typeface="Aptos"/>
                <a:ea typeface="Aptos"/>
                <a:cs typeface="Aptos"/>
              </a:defRPr>
            </a:pPr>
            <a:r>
              <a:rPr sz="1200" b="1" i="0">
                <a:solidFill>
                  <a:srgbClr val="5B6670"/>
                </a:solidFill>
                <a:latin typeface="Aptos"/>
                <a:ea typeface="Aptos"/>
                <a:cs typeface="Aptos"/>
              </a:rPr>
              <a:t>09</a:t>
            </a:r>
          </a:p>
        </p:txBody>
      </p:sp>
    </p:spTree>
    <p:extLst>
      <p:ext uri="{BB962C8B-B14F-4D97-AF65-F5344CB8AC3E}">
        <p14:creationId xmlns:p14="http://schemas.microsoft.com/office/powerpoint/2010/main" val="106552349"/>
      </p:ext>
    </p:extLst>
  </p:cSld>
</p:sld>
</file>

<file path=ppt/theme/theme1.xml><?xml version="1.0" encoding="utf-8"?>
<a:theme xmlns:a="http://schemas.openxmlformats.org/drawingml/2006/main" name="ChatGPT">
  <a:themeElements>
    <a:clrScheme name="Conversation Practice">
      <a:dk1>
        <a:srgbClr val="17222F"/>
      </a:dk1>
      <a:lt1>
        <a:srgbClr val="FFFFFF"/>
      </a:lt1>
      <a:dk2>
        <a:srgbClr val="162A3C"/>
      </a:dk2>
      <a:lt2>
        <a:srgbClr val="F6F1E8"/>
      </a:lt2>
      <a:accent1>
        <a:srgbClr val="2D6F6B"/>
      </a:accent1>
      <a:accent2>
        <a:srgbClr val="C57A42"/>
      </a:accent2>
      <a:accent3>
        <a:srgbClr val="162A3C"/>
      </a:accent3>
      <a:accent4>
        <a:srgbClr val="A74A43"/>
      </a:accent4>
      <a:accent5>
        <a:srgbClr val="7FA6A0"/>
      </a:accent5>
      <a:accent6>
        <a:srgbClr val="F1DDCB"/>
      </a:accent6>
      <a:hlink>
        <a:srgbClr val="2D6F6B"/>
      </a:hlink>
      <a:folHlink>
        <a:srgbClr val="C57A42"/>
      </a:folHlink>
    </a:clrScheme>
    <a:fontScheme name="Office">
      <a:majorFont>
        <a:latin typeface="Calibri Light"/>
        <a:ea typeface="Calibri Light"/>
        <a:cs typeface="Calibri Light"/>
      </a:majorFont>
      <a:minorFont>
        <a:latin typeface="Calibri"/>
        <a:ea typeface="Calibri"/>
        <a:cs typeface="Calibri"/>
      </a:minorFont>
    </a:fontScheme>
    <a:fmtScheme name="Conversation Pract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2026-08-01T16:20:41.3150000Z</dcterms:created>
  <dcterms:modified xsi:type="dcterms:W3CDTF">2026-08-01T16:20:41.3150000Z</dcterms:modified>
</coreProperties>
</file>